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9" r:id="rId1"/>
  </p:sldMasterIdLst>
  <p:notesMasterIdLst>
    <p:notesMasterId r:id="rId10"/>
  </p:notesMasterIdLst>
  <p:sldIdLst>
    <p:sldId id="258" r:id="rId2"/>
    <p:sldId id="265" r:id="rId3"/>
    <p:sldId id="261" r:id="rId4"/>
    <p:sldId id="264" r:id="rId5"/>
    <p:sldId id="259" r:id="rId6"/>
    <p:sldId id="262" r:id="rId7"/>
    <p:sldId id="260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EA3FA2-2619-4942-95B4-C4B949CCF6B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39C50F6-478D-47C1-BA58-A0477F049414}">
      <dgm:prSet custT="1"/>
      <dgm:spPr/>
      <dgm:t>
        <a:bodyPr/>
        <a:lstStyle/>
        <a:p>
          <a:r>
            <a:rPr lang="en-IN" sz="4000" b="1" dirty="0"/>
            <a:t>What</a:t>
          </a:r>
          <a:endParaRPr lang="en-IN" sz="4000" dirty="0"/>
        </a:p>
      </dgm:t>
    </dgm:pt>
    <dgm:pt modelId="{EC7D0770-E481-4C16-8AA9-80A21D5D57E4}" type="parTrans" cxnId="{3DEA7032-E940-4800-84EE-B30780F14D04}">
      <dgm:prSet/>
      <dgm:spPr/>
      <dgm:t>
        <a:bodyPr/>
        <a:lstStyle/>
        <a:p>
          <a:endParaRPr lang="en-IN"/>
        </a:p>
      </dgm:t>
    </dgm:pt>
    <dgm:pt modelId="{B4F2C65C-9B54-4C85-AF90-46AA953E07AD}" type="sibTrans" cxnId="{3DEA7032-E940-4800-84EE-B30780F14D04}">
      <dgm:prSet/>
      <dgm:spPr/>
      <dgm:t>
        <a:bodyPr/>
        <a:lstStyle/>
        <a:p>
          <a:endParaRPr lang="en-IN"/>
        </a:p>
      </dgm:t>
    </dgm:pt>
    <dgm:pt modelId="{1298AEEB-8F52-4124-B342-1DEFEEFAA554}">
      <dgm:prSet/>
      <dgm:spPr/>
      <dgm:t>
        <a:bodyPr/>
        <a:lstStyle/>
        <a:p>
          <a:r>
            <a:rPr lang="en-US"/>
            <a:t>A </a:t>
          </a:r>
          <a:r>
            <a:rPr lang="en-US" b="1"/>
            <a:t>structured encyclopedia </a:t>
          </a:r>
          <a:r>
            <a:rPr lang="en-US"/>
            <a:t>generated from </a:t>
          </a:r>
          <a:r>
            <a:rPr lang="en-US" b="1" i="1"/>
            <a:t>scientific climate research papers.</a:t>
          </a:r>
          <a:endParaRPr lang="en-IN"/>
        </a:p>
      </dgm:t>
    </dgm:pt>
    <dgm:pt modelId="{AC3E0AFA-0446-47F8-9953-E1EEF89E2B29}" type="parTrans" cxnId="{1092C07B-C712-4B29-86A4-68F59E3A78E7}">
      <dgm:prSet/>
      <dgm:spPr/>
      <dgm:t>
        <a:bodyPr/>
        <a:lstStyle/>
        <a:p>
          <a:endParaRPr lang="en-IN"/>
        </a:p>
      </dgm:t>
    </dgm:pt>
    <dgm:pt modelId="{6EC8FF65-E747-4ECA-9EB2-826D1423AB64}" type="sibTrans" cxnId="{1092C07B-C712-4B29-86A4-68F59E3A78E7}">
      <dgm:prSet/>
      <dgm:spPr/>
      <dgm:t>
        <a:bodyPr/>
        <a:lstStyle/>
        <a:p>
          <a:endParaRPr lang="en-IN"/>
        </a:p>
      </dgm:t>
    </dgm:pt>
    <dgm:pt modelId="{01D4A877-FFB4-4806-B474-F6CFD2B30C5F}">
      <dgm:prSet/>
      <dgm:spPr/>
      <dgm:t>
        <a:bodyPr/>
        <a:lstStyle/>
        <a:p>
          <a:r>
            <a:rPr lang="en-US"/>
            <a:t>Extracts key terms and connects them through a knowledge graph.</a:t>
          </a:r>
          <a:endParaRPr lang="en-IN"/>
        </a:p>
      </dgm:t>
    </dgm:pt>
    <dgm:pt modelId="{FBF7E8DA-6721-499A-B0F2-1E177F3DAF01}" type="parTrans" cxnId="{3F0A8009-7D19-4083-AD04-013DDA4BF089}">
      <dgm:prSet/>
      <dgm:spPr/>
      <dgm:t>
        <a:bodyPr/>
        <a:lstStyle/>
        <a:p>
          <a:endParaRPr lang="en-IN"/>
        </a:p>
      </dgm:t>
    </dgm:pt>
    <dgm:pt modelId="{AE086AB6-E68E-4EC9-A864-FFF394DEE65D}" type="sibTrans" cxnId="{3F0A8009-7D19-4083-AD04-013DDA4BF089}">
      <dgm:prSet/>
      <dgm:spPr/>
      <dgm:t>
        <a:bodyPr/>
        <a:lstStyle/>
        <a:p>
          <a:endParaRPr lang="en-IN"/>
        </a:p>
      </dgm:t>
    </dgm:pt>
    <dgm:pt modelId="{4D3D5572-647A-446A-A485-2B89670A0BE6}">
      <dgm:prSet custT="1"/>
      <dgm:spPr/>
      <dgm:t>
        <a:bodyPr/>
        <a:lstStyle/>
        <a:p>
          <a:r>
            <a:rPr lang="en-IN" sz="4400" b="1" dirty="0"/>
            <a:t>Why</a:t>
          </a:r>
          <a:endParaRPr lang="en-IN" sz="4400" dirty="0"/>
        </a:p>
      </dgm:t>
    </dgm:pt>
    <dgm:pt modelId="{5B49AB1F-2115-49F3-8FDC-AA9FAE5FBA81}" type="parTrans" cxnId="{F9675315-37E9-41CF-9287-3B569FAB59D4}">
      <dgm:prSet/>
      <dgm:spPr/>
      <dgm:t>
        <a:bodyPr/>
        <a:lstStyle/>
        <a:p>
          <a:endParaRPr lang="en-IN"/>
        </a:p>
      </dgm:t>
    </dgm:pt>
    <dgm:pt modelId="{3A995C58-A845-41C5-A77A-6F1C5886C97E}" type="sibTrans" cxnId="{F9675315-37E9-41CF-9287-3B569FAB59D4}">
      <dgm:prSet/>
      <dgm:spPr/>
      <dgm:t>
        <a:bodyPr/>
        <a:lstStyle/>
        <a:p>
          <a:endParaRPr lang="en-IN"/>
        </a:p>
      </dgm:t>
    </dgm:pt>
    <dgm:pt modelId="{0CEB505D-EF1C-411C-94F3-E1C8C1B905A1}">
      <dgm:prSet/>
      <dgm:spPr/>
      <dgm:t>
        <a:bodyPr/>
        <a:lstStyle/>
        <a:p>
          <a:r>
            <a:rPr lang="en-US" dirty="0"/>
            <a:t>Climate knowledge is scattered in PDFs and difficult to reuse.</a:t>
          </a:r>
          <a:endParaRPr lang="en-IN" dirty="0"/>
        </a:p>
      </dgm:t>
    </dgm:pt>
    <dgm:pt modelId="{6BAE4612-EEF1-4F53-9FA1-0365060A38C6}" type="parTrans" cxnId="{6C3990B2-4F29-4017-B99C-67C3D09C6F10}">
      <dgm:prSet/>
      <dgm:spPr/>
      <dgm:t>
        <a:bodyPr/>
        <a:lstStyle/>
        <a:p>
          <a:endParaRPr lang="en-IN"/>
        </a:p>
      </dgm:t>
    </dgm:pt>
    <dgm:pt modelId="{21C85649-8E9C-4AF7-8064-A33F09839646}" type="sibTrans" cxnId="{6C3990B2-4F29-4017-B99C-67C3D09C6F10}">
      <dgm:prSet/>
      <dgm:spPr/>
      <dgm:t>
        <a:bodyPr/>
        <a:lstStyle/>
        <a:p>
          <a:endParaRPr lang="en-IN"/>
        </a:p>
      </dgm:t>
    </dgm:pt>
    <dgm:pt modelId="{AF6474D5-664B-49EA-8BD3-953C16A550B6}" type="pres">
      <dgm:prSet presAssocID="{0FEA3FA2-2619-4942-95B4-C4B949CCF6B6}" presName="Name0" presStyleCnt="0">
        <dgm:presLayoutVars>
          <dgm:dir/>
          <dgm:animLvl val="lvl"/>
          <dgm:resizeHandles val="exact"/>
        </dgm:presLayoutVars>
      </dgm:prSet>
      <dgm:spPr/>
    </dgm:pt>
    <dgm:pt modelId="{B3390A21-6877-445B-AEB2-C06A6862A9BB}" type="pres">
      <dgm:prSet presAssocID="{A39C50F6-478D-47C1-BA58-A0477F049414}" presName="linNode" presStyleCnt="0"/>
      <dgm:spPr/>
    </dgm:pt>
    <dgm:pt modelId="{66175B6C-CBB8-437C-B833-4B93C0AA6102}" type="pres">
      <dgm:prSet presAssocID="{A39C50F6-478D-47C1-BA58-A0477F049414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5672E843-0085-46AB-95DA-33CE114C94D7}" type="pres">
      <dgm:prSet presAssocID="{A39C50F6-478D-47C1-BA58-A0477F049414}" presName="descendantText" presStyleLbl="alignAccFollowNode1" presStyleIdx="0" presStyleCnt="2">
        <dgm:presLayoutVars>
          <dgm:bulletEnabled val="1"/>
        </dgm:presLayoutVars>
      </dgm:prSet>
      <dgm:spPr/>
    </dgm:pt>
    <dgm:pt modelId="{3CD72312-2754-4870-A6EA-EE69CBF225A5}" type="pres">
      <dgm:prSet presAssocID="{B4F2C65C-9B54-4C85-AF90-46AA953E07AD}" presName="sp" presStyleCnt="0"/>
      <dgm:spPr/>
    </dgm:pt>
    <dgm:pt modelId="{9E0A5173-8DE1-4A67-A552-FE540884FEF4}" type="pres">
      <dgm:prSet presAssocID="{4D3D5572-647A-446A-A485-2B89670A0BE6}" presName="linNode" presStyleCnt="0"/>
      <dgm:spPr/>
    </dgm:pt>
    <dgm:pt modelId="{02972BC8-493D-45EB-B968-5EF0294B43F4}" type="pres">
      <dgm:prSet presAssocID="{4D3D5572-647A-446A-A485-2B89670A0BE6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0DA10F1B-1839-492A-972D-05F0F8D97A62}" type="pres">
      <dgm:prSet presAssocID="{4D3D5572-647A-446A-A485-2B89670A0BE6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3F0A8009-7D19-4083-AD04-013DDA4BF089}" srcId="{A39C50F6-478D-47C1-BA58-A0477F049414}" destId="{01D4A877-FFB4-4806-B474-F6CFD2B30C5F}" srcOrd="1" destOrd="0" parTransId="{FBF7E8DA-6721-499A-B0F2-1E177F3DAF01}" sibTransId="{AE086AB6-E68E-4EC9-A864-FFF394DEE65D}"/>
    <dgm:cxn modelId="{F9675315-37E9-41CF-9287-3B569FAB59D4}" srcId="{0FEA3FA2-2619-4942-95B4-C4B949CCF6B6}" destId="{4D3D5572-647A-446A-A485-2B89670A0BE6}" srcOrd="1" destOrd="0" parTransId="{5B49AB1F-2115-49F3-8FDC-AA9FAE5FBA81}" sibTransId="{3A995C58-A845-41C5-A77A-6F1C5886C97E}"/>
    <dgm:cxn modelId="{3DEA7032-E940-4800-84EE-B30780F14D04}" srcId="{0FEA3FA2-2619-4942-95B4-C4B949CCF6B6}" destId="{A39C50F6-478D-47C1-BA58-A0477F049414}" srcOrd="0" destOrd="0" parTransId="{EC7D0770-E481-4C16-8AA9-80A21D5D57E4}" sibTransId="{B4F2C65C-9B54-4C85-AF90-46AA953E07AD}"/>
    <dgm:cxn modelId="{65D49A32-478A-468B-93C4-77F829371ED4}" type="presOf" srcId="{0CEB505D-EF1C-411C-94F3-E1C8C1B905A1}" destId="{0DA10F1B-1839-492A-972D-05F0F8D97A62}" srcOrd="0" destOrd="0" presId="urn:microsoft.com/office/officeart/2005/8/layout/vList5"/>
    <dgm:cxn modelId="{1092C07B-C712-4B29-86A4-68F59E3A78E7}" srcId="{A39C50F6-478D-47C1-BA58-A0477F049414}" destId="{1298AEEB-8F52-4124-B342-1DEFEEFAA554}" srcOrd="0" destOrd="0" parTransId="{AC3E0AFA-0446-47F8-9953-E1EEF89E2B29}" sibTransId="{6EC8FF65-E747-4ECA-9EB2-826D1423AB64}"/>
    <dgm:cxn modelId="{D2E2E1A1-5150-4D75-8C50-41619A529CCB}" type="presOf" srcId="{A39C50F6-478D-47C1-BA58-A0477F049414}" destId="{66175B6C-CBB8-437C-B833-4B93C0AA6102}" srcOrd="0" destOrd="0" presId="urn:microsoft.com/office/officeart/2005/8/layout/vList5"/>
    <dgm:cxn modelId="{B5BBB3A2-3B61-4349-BFF7-A904178CF4B0}" type="presOf" srcId="{4D3D5572-647A-446A-A485-2B89670A0BE6}" destId="{02972BC8-493D-45EB-B968-5EF0294B43F4}" srcOrd="0" destOrd="0" presId="urn:microsoft.com/office/officeart/2005/8/layout/vList5"/>
    <dgm:cxn modelId="{2BF06AAD-9ACC-4177-AA07-804B30667271}" type="presOf" srcId="{01D4A877-FFB4-4806-B474-F6CFD2B30C5F}" destId="{5672E843-0085-46AB-95DA-33CE114C94D7}" srcOrd="0" destOrd="1" presId="urn:microsoft.com/office/officeart/2005/8/layout/vList5"/>
    <dgm:cxn modelId="{6C3990B2-4F29-4017-B99C-67C3D09C6F10}" srcId="{4D3D5572-647A-446A-A485-2B89670A0BE6}" destId="{0CEB505D-EF1C-411C-94F3-E1C8C1B905A1}" srcOrd="0" destOrd="0" parTransId="{6BAE4612-EEF1-4F53-9FA1-0365060A38C6}" sibTransId="{21C85649-8E9C-4AF7-8064-A33F09839646}"/>
    <dgm:cxn modelId="{9FBD32BF-C52B-4AF0-A4FC-72C3D5196572}" type="presOf" srcId="{0FEA3FA2-2619-4942-95B4-C4B949CCF6B6}" destId="{AF6474D5-664B-49EA-8BD3-953C16A550B6}" srcOrd="0" destOrd="0" presId="urn:microsoft.com/office/officeart/2005/8/layout/vList5"/>
    <dgm:cxn modelId="{FB8583F2-74E8-490F-AC78-586697CB6EFE}" type="presOf" srcId="{1298AEEB-8F52-4124-B342-1DEFEEFAA554}" destId="{5672E843-0085-46AB-95DA-33CE114C94D7}" srcOrd="0" destOrd="0" presId="urn:microsoft.com/office/officeart/2005/8/layout/vList5"/>
    <dgm:cxn modelId="{9EF5389F-0C51-48B1-8063-4CD0C4C16852}" type="presParOf" srcId="{AF6474D5-664B-49EA-8BD3-953C16A550B6}" destId="{B3390A21-6877-445B-AEB2-C06A6862A9BB}" srcOrd="0" destOrd="0" presId="urn:microsoft.com/office/officeart/2005/8/layout/vList5"/>
    <dgm:cxn modelId="{0CA5A0D5-C708-4E8B-AECE-2502141E03C8}" type="presParOf" srcId="{B3390A21-6877-445B-AEB2-C06A6862A9BB}" destId="{66175B6C-CBB8-437C-B833-4B93C0AA6102}" srcOrd="0" destOrd="0" presId="urn:microsoft.com/office/officeart/2005/8/layout/vList5"/>
    <dgm:cxn modelId="{8D006A82-65AC-418F-BFFD-DC5A9A2E6EB1}" type="presParOf" srcId="{B3390A21-6877-445B-AEB2-C06A6862A9BB}" destId="{5672E843-0085-46AB-95DA-33CE114C94D7}" srcOrd="1" destOrd="0" presId="urn:microsoft.com/office/officeart/2005/8/layout/vList5"/>
    <dgm:cxn modelId="{6C0D0782-CB5A-409F-968A-E0CC931284E2}" type="presParOf" srcId="{AF6474D5-664B-49EA-8BD3-953C16A550B6}" destId="{3CD72312-2754-4870-A6EA-EE69CBF225A5}" srcOrd="1" destOrd="0" presId="urn:microsoft.com/office/officeart/2005/8/layout/vList5"/>
    <dgm:cxn modelId="{9EC68A77-6E06-4287-9954-CD76C955EFF8}" type="presParOf" srcId="{AF6474D5-664B-49EA-8BD3-953C16A550B6}" destId="{9E0A5173-8DE1-4A67-A552-FE540884FEF4}" srcOrd="2" destOrd="0" presId="urn:microsoft.com/office/officeart/2005/8/layout/vList5"/>
    <dgm:cxn modelId="{FEA309D6-E2B3-479F-A470-9C4090EA4D9F}" type="presParOf" srcId="{9E0A5173-8DE1-4A67-A552-FE540884FEF4}" destId="{02972BC8-493D-45EB-B968-5EF0294B43F4}" srcOrd="0" destOrd="0" presId="urn:microsoft.com/office/officeart/2005/8/layout/vList5"/>
    <dgm:cxn modelId="{104EE424-FEF7-4032-A0F7-04A7D4A1CCB1}" type="presParOf" srcId="{9E0A5173-8DE1-4A67-A552-FE540884FEF4}" destId="{0DA10F1B-1839-492A-972D-05F0F8D97A6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72E843-0085-46AB-95DA-33CE114C94D7}">
      <dsp:nvSpPr>
        <dsp:cNvPr id="0" name=""/>
        <dsp:cNvSpPr/>
      </dsp:nvSpPr>
      <dsp:spPr>
        <a:xfrm rot="5400000">
          <a:off x="4058023" y="-1390073"/>
          <a:ext cx="1333165" cy="444668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A </a:t>
          </a:r>
          <a:r>
            <a:rPr lang="en-US" sz="1900" b="1" kern="1200"/>
            <a:t>structured encyclopedia </a:t>
          </a:r>
          <a:r>
            <a:rPr lang="en-US" sz="1900" kern="1200"/>
            <a:t>generated from </a:t>
          </a:r>
          <a:r>
            <a:rPr lang="en-US" sz="1900" b="1" i="1" kern="1200"/>
            <a:t>scientific climate research papers.</a:t>
          </a:r>
          <a:endParaRPr lang="en-IN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Extracts key terms and connects them through a knowledge graph.</a:t>
          </a:r>
          <a:endParaRPr lang="en-IN" sz="1900" kern="1200"/>
        </a:p>
      </dsp:txBody>
      <dsp:txXfrm rot="-5400000">
        <a:off x="2501262" y="231768"/>
        <a:ext cx="4381608" cy="1203005"/>
      </dsp:txXfrm>
    </dsp:sp>
    <dsp:sp modelId="{66175B6C-CBB8-437C-B833-4B93C0AA6102}">
      <dsp:nvSpPr>
        <dsp:cNvPr id="0" name=""/>
        <dsp:cNvSpPr/>
      </dsp:nvSpPr>
      <dsp:spPr>
        <a:xfrm>
          <a:off x="0" y="41"/>
          <a:ext cx="2501262" cy="16664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b="1" kern="1200" dirty="0"/>
            <a:t>What</a:t>
          </a:r>
          <a:endParaRPr lang="en-IN" sz="4000" kern="1200" dirty="0"/>
        </a:p>
      </dsp:txBody>
      <dsp:txXfrm>
        <a:off x="81350" y="81391"/>
        <a:ext cx="2338562" cy="1503756"/>
      </dsp:txXfrm>
    </dsp:sp>
    <dsp:sp modelId="{0DA10F1B-1839-492A-972D-05F0F8D97A62}">
      <dsp:nvSpPr>
        <dsp:cNvPr id="0" name=""/>
        <dsp:cNvSpPr/>
      </dsp:nvSpPr>
      <dsp:spPr>
        <a:xfrm rot="5400000">
          <a:off x="4058023" y="359705"/>
          <a:ext cx="1333165" cy="444668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Climate knowledge is scattered in PDFs and difficult to reuse.</a:t>
          </a:r>
          <a:endParaRPr lang="en-IN" sz="1900" kern="1200" dirty="0"/>
        </a:p>
      </dsp:txBody>
      <dsp:txXfrm rot="-5400000">
        <a:off x="2501262" y="1981546"/>
        <a:ext cx="4381608" cy="1203005"/>
      </dsp:txXfrm>
    </dsp:sp>
    <dsp:sp modelId="{02972BC8-493D-45EB-B968-5EF0294B43F4}">
      <dsp:nvSpPr>
        <dsp:cNvPr id="0" name=""/>
        <dsp:cNvSpPr/>
      </dsp:nvSpPr>
      <dsp:spPr>
        <a:xfrm>
          <a:off x="0" y="1749821"/>
          <a:ext cx="2501262" cy="16664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400" b="1" kern="1200" dirty="0"/>
            <a:t>Why</a:t>
          </a:r>
          <a:endParaRPr lang="en-IN" sz="4400" kern="1200" dirty="0"/>
        </a:p>
      </dsp:txBody>
      <dsp:txXfrm>
        <a:off x="81350" y="1831171"/>
        <a:ext cx="2338562" cy="15037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FC056-B5DB-4853-B040-2FE13E695035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26E44-26E1-47FC-B3EE-526078A148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44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26E44-26E1-47FC-B3EE-526078A148D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495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9852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4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996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354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938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07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61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6CCBF3A-D7FB-4B97-8FD5-6FFB20CB1E8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925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304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092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993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6CCBF3A-D7FB-4B97-8FD5-6FFB20CB1E8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089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hyperlink" Target="https://jeffhalmos.com/project/semanticclimate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jeffhalmos.com/project/semanticclimate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hyperlink" Target="https://svgsilh.com/3f51b5/image/3289956.html" TargetMode="External"/><Relationship Id="rId4" Type="http://schemas.openxmlformats.org/officeDocument/2006/relationships/diagramLayout" Target="../diagrams/layout1.xml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116A904D-80BE-42BB-A96F-14D33FFE0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E49CA6A-AA0D-433F-BA6F-E0F8DCBA8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7706B1B-4321-47A1-B97B-3364729F7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BE6F0F18-8E25-43BA-A2C3-17CD3B7AF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B0EB3AA-2F41-AA10-F72E-0DF402F68F0A}"/>
              </a:ext>
            </a:extLst>
          </p:cNvPr>
          <p:cNvSpPr/>
          <p:nvPr/>
        </p:nvSpPr>
        <p:spPr>
          <a:xfrm>
            <a:off x="462075" y="4183840"/>
            <a:ext cx="6849475" cy="1395619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 fontScale="32500" lnSpcReduction="20000"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spc="-5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  <a:ea typeface="+mj-ea"/>
                <a:cs typeface="+mj-cs"/>
              </a:rPr>
              <a:t>	</a:t>
            </a:r>
          </a:p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spc="-5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  <a:ea typeface="+mj-ea"/>
                <a:cs typeface="+mj-cs"/>
              </a:rPr>
              <a:t>	</a:t>
            </a:r>
          </a:p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spc="-5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  <a:ea typeface="+mj-ea"/>
                <a:cs typeface="+mj-cs"/>
              </a:rPr>
              <a:t>	</a:t>
            </a:r>
            <a:r>
              <a:rPr lang="en-US" sz="13500" b="1" spc="-5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asis MT Pro" panose="02040504050005020304" pitchFamily="18" charset="0"/>
                <a:ea typeface="+mj-ea"/>
                <a:cs typeface="+mj-cs"/>
              </a:rPr>
              <a:t>ENCYCLOPEDIA</a:t>
            </a:r>
            <a:endParaRPr lang="en-US" sz="9000" b="1" spc="-5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Amasis MT Pro" panose="02040504050005020304" pitchFamily="18" charset="0"/>
              <a:ea typeface="+mj-ea"/>
              <a:cs typeface="+mj-cs"/>
            </a:endParaRPr>
          </a:p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endParaRPr lang="en-US" sz="6600" spc="-5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DE18401-8B27-41E0-853A-E5552DD8F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145" y="0"/>
            <a:ext cx="2685431" cy="3355942"/>
          </a:xfrm>
          <a:prstGeom prst="rect">
            <a:avLst/>
          </a:prstGeom>
          <a:solidFill>
            <a:srgbClr val="80CC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31C12C-5B51-1571-19D0-77DF191C2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3" b="25375"/>
          <a:stretch>
            <a:fillRect/>
          </a:stretch>
        </p:blipFill>
        <p:spPr>
          <a:xfrm>
            <a:off x="2864643" y="10"/>
            <a:ext cx="4489133" cy="32951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7F13BE-AFFD-57BE-334E-4CF3DDFF0C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1" r="-1459" b="68648"/>
          <a:stretch>
            <a:fillRect/>
          </a:stretch>
        </p:blipFill>
        <p:spPr>
          <a:xfrm>
            <a:off x="8202534" y="3611484"/>
            <a:ext cx="3004685" cy="698674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E4C3238-E508-447E-B00A-727D4B596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15379" y="4343400"/>
            <a:ext cx="329184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2A57BF07-E655-4E4D-A001-B8B90ED0B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533E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B2FB41A-41B3-4D2D-A82D-D161C7C53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2065"/>
            <a:ext cx="12191985" cy="66484"/>
          </a:xfrm>
          <a:prstGeom prst="rect">
            <a:avLst/>
          </a:prstGeom>
          <a:solidFill>
            <a:srgbClr val="80CC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AutoShape 2" descr=", AI generated">
            <a:extLst>
              <a:ext uri="{FF2B5EF4-FFF2-40B4-BE49-F238E27FC236}">
                <a16:creationId xmlns:a16="http://schemas.microsoft.com/office/drawing/2014/main" id="{0F27EDD2-5544-76A6-E0C6-EB9360AF2F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A905E4D-AB5C-0389-6E3F-815628E66E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09"/>
          <a:stretch>
            <a:fillRect/>
          </a:stretch>
        </p:blipFill>
        <p:spPr>
          <a:xfrm>
            <a:off x="2833833" y="-7749"/>
            <a:ext cx="4550752" cy="39860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FF0623-5D37-DAAB-9AA8-525286B598D7}"/>
              </a:ext>
            </a:extLst>
          </p:cNvPr>
          <p:cNvSpPr txBox="1"/>
          <p:nvPr/>
        </p:nvSpPr>
        <p:spPr>
          <a:xfrm>
            <a:off x="23331" y="6005043"/>
            <a:ext cx="3652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Presented by- Taiba Shamim</a:t>
            </a:r>
          </a:p>
        </p:txBody>
      </p:sp>
    </p:spTree>
    <p:extLst>
      <p:ext uri="{BB962C8B-B14F-4D97-AF65-F5344CB8AC3E}">
        <p14:creationId xmlns:p14="http://schemas.microsoft.com/office/powerpoint/2010/main" val="1518804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6328B8-3941-5962-8B96-B08290560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A10B33E8-4397-4821-261D-730575923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0E6EFF1-EC9B-702A-F314-BFA43956D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61985A3-6724-283F-6D1E-996960DED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5B62A30E-9740-50FE-A5FB-0BFB7BC8F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539DCDD-A028-560E-9932-9747E61CC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145" y="0"/>
            <a:ext cx="2685431" cy="3355942"/>
          </a:xfrm>
          <a:prstGeom prst="rect">
            <a:avLst/>
          </a:prstGeom>
          <a:solidFill>
            <a:srgbClr val="80CC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A65D4E-8CBA-816F-D194-B05D795EA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" r="-1459" b="68648"/>
          <a:stretch>
            <a:fillRect/>
          </a:stretch>
        </p:blipFill>
        <p:spPr>
          <a:xfrm>
            <a:off x="8202534" y="3611484"/>
            <a:ext cx="3004685" cy="698674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7C6FE5A-A56F-0EA4-FCEF-30C3A2648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15379" y="4343400"/>
            <a:ext cx="329184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9A0618CE-CFFF-2D36-D2C0-94A7752C0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533E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EFDBAFB-2D12-5BAC-6AFF-BB227BEA93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2065"/>
            <a:ext cx="12191985" cy="66484"/>
          </a:xfrm>
          <a:prstGeom prst="rect">
            <a:avLst/>
          </a:prstGeom>
          <a:solidFill>
            <a:srgbClr val="80CC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AutoShape 2" descr=", AI generated">
            <a:extLst>
              <a:ext uri="{FF2B5EF4-FFF2-40B4-BE49-F238E27FC236}">
                <a16:creationId xmlns:a16="http://schemas.microsoft.com/office/drawing/2014/main" id="{6ED8ED60-B0E5-3C75-EB6C-DC6669DCB6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FF34E15-07C6-993C-89F3-7BB1DE2F30E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2408" b="16720"/>
          <a:stretch>
            <a:fillRect/>
          </a:stretch>
        </p:blipFill>
        <p:spPr>
          <a:xfrm>
            <a:off x="2681285" y="-7920"/>
            <a:ext cx="9510699" cy="6283501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1D7AC9C-4465-0A5E-0531-3A7A1A2D65E3}"/>
              </a:ext>
            </a:extLst>
          </p:cNvPr>
          <p:cNvSpPr/>
          <p:nvPr/>
        </p:nvSpPr>
        <p:spPr>
          <a:xfrm>
            <a:off x="2703057" y="1966897"/>
            <a:ext cx="7551286" cy="146209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 fontScale="47500" lnSpcReduction="20000"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spc="-5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  <a:ea typeface="+mj-ea"/>
                <a:cs typeface="+mj-cs"/>
              </a:rPr>
              <a:t>	</a:t>
            </a:r>
          </a:p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spc="-5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  <a:ea typeface="+mj-ea"/>
                <a:cs typeface="+mj-cs"/>
              </a:rPr>
              <a:t>	</a:t>
            </a:r>
          </a:p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700" b="1" spc="-5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   Topic – Montreal Protocol</a:t>
            </a:r>
            <a:endParaRPr lang="en-US" sz="10100" b="1" spc="-5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endParaRPr lang="en-US" sz="6600" spc="-5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1168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33699A-8F7F-5A87-2826-522621DD1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08CB54FC-0B2A-4107-9A70-958B90B7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22C685-258B-950F-AF57-5D7C3F71D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/>
              <a:t>Team Members</a:t>
            </a:r>
            <a:endParaRPr lang="en-US" b="1" dirty="0"/>
          </a:p>
        </p:txBody>
      </p:sp>
      <p:pic>
        <p:nvPicPr>
          <p:cNvPr id="7" name="Graphic 6" descr="Users outline">
            <a:extLst>
              <a:ext uri="{FF2B5EF4-FFF2-40B4-BE49-F238E27FC236}">
                <a16:creationId xmlns:a16="http://schemas.microsoft.com/office/drawing/2014/main" id="{8729C2DD-4606-FAD4-7784-956DFD281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133" y="645107"/>
            <a:ext cx="4071020" cy="4071020"/>
          </a:xfrm>
          <a:prstGeom prst="rect">
            <a:avLst/>
          </a:prstGeom>
        </p:spPr>
      </p:pic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855A9B5-1710-4B19-B0F1-CDFDD4ED5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517AF8A-FAAD-8815-785F-49E33ECDB726}"/>
              </a:ext>
            </a:extLst>
          </p:cNvPr>
          <p:cNvSpPr txBox="1"/>
          <p:nvPr/>
        </p:nvSpPr>
        <p:spPr>
          <a:xfrm>
            <a:off x="4746171" y="2198914"/>
            <a:ext cx="6792685" cy="367018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514350" indent="-5143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Taiba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Montreal Protocol (Linux command line)</a:t>
            </a:r>
          </a:p>
          <a:p>
            <a:pPr marL="514350" indent="-5143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Sakshi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Metagenomics of 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Lantana Camara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(Google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Colab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 marL="514350" indent="-5143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Arhaan-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Chemical ecology of plant insect interactions (Google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Colab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 marL="514350" indent="-5143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Pushpa-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India's zero carbon emission by 2070  (Google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Colab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587DBF8-5C50-4034-8B79-FE54A01A8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4720853-E885-4BE5-BFE2-24004CEF6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64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350C3-DDB9-8A8F-7FEF-762F88B2C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0060197-411D-EF20-6A7C-37FD50F1D4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3023035"/>
              </p:ext>
            </p:extLst>
          </p:nvPr>
        </p:nvGraphicFramePr>
        <p:xfrm>
          <a:off x="1811239" y="1324877"/>
          <a:ext cx="6947950" cy="341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Graphic 6">
            <a:extLst>
              <a:ext uri="{FF2B5EF4-FFF2-40B4-BE49-F238E27FC236}">
                <a16:creationId xmlns:a16="http://schemas.microsoft.com/office/drawing/2014/main" id="{58B20822-0FF1-A4BB-05F3-20F0D2A32D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9406345" y="1324877"/>
            <a:ext cx="1948831" cy="324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19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0C1F7-186E-4479-C6D3-245C0386D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0FBD400-CB48-4EAE-CAE6-70A8C9041D93}"/>
              </a:ext>
            </a:extLst>
          </p:cNvPr>
          <p:cNvSpPr/>
          <p:nvPr/>
        </p:nvSpPr>
        <p:spPr>
          <a:xfrm>
            <a:off x="1045033" y="1834235"/>
            <a:ext cx="2503714" cy="1181107"/>
          </a:xfrm>
          <a:prstGeom prst="roundRect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b="1" u="sng" dirty="0"/>
          </a:p>
          <a:p>
            <a:pPr algn="ctr"/>
            <a:r>
              <a:rPr lang="en-IN" b="1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pygetpapers</a:t>
            </a:r>
            <a:endParaRPr lang="en-IN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IN" dirty="0"/>
              <a:t>version 1.2.5a24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D0BFE8-3082-2699-49FE-E4718663DCC4}"/>
              </a:ext>
            </a:extLst>
          </p:cNvPr>
          <p:cNvSpPr/>
          <p:nvPr/>
        </p:nvSpPr>
        <p:spPr>
          <a:xfrm>
            <a:off x="4523015" y="1806990"/>
            <a:ext cx="2503714" cy="1181107"/>
          </a:xfrm>
          <a:prstGeom prst="roundRect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txt2phrases</a:t>
            </a:r>
            <a:endParaRPr lang="en-I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/>
              <a:t>	</a:t>
            </a:r>
            <a:r>
              <a:rPr lang="en-IN" sz="1600" dirty="0"/>
              <a:t>Version -1.0.3</a:t>
            </a:r>
            <a:endParaRPr lang="en-IN" sz="1400" dirty="0"/>
          </a:p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F47CE93-618D-687F-20E2-12724841FFAA}"/>
              </a:ext>
            </a:extLst>
          </p:cNvPr>
          <p:cNvSpPr/>
          <p:nvPr/>
        </p:nvSpPr>
        <p:spPr>
          <a:xfrm>
            <a:off x="8452757" y="4054964"/>
            <a:ext cx="2503714" cy="1181108"/>
          </a:xfrm>
          <a:prstGeom prst="roundRect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b="1" u="sng" dirty="0"/>
          </a:p>
          <a:p>
            <a:pPr algn="ctr"/>
            <a:r>
              <a:rPr lang="en-IN" sz="1600" b="1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amilib</a:t>
            </a:r>
            <a:endParaRPr lang="en-IN" sz="1600" b="1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Forms </a:t>
            </a:r>
            <a:r>
              <a:rPr lang="en-IN" sz="1600" dirty="0" err="1"/>
              <a:t>encyclopedia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Version -1.1.2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31387477-0935-EDD4-C863-FC0B20A71F3A}"/>
              </a:ext>
            </a:extLst>
          </p:cNvPr>
          <p:cNvSpPr/>
          <p:nvPr/>
        </p:nvSpPr>
        <p:spPr>
          <a:xfrm>
            <a:off x="-1" y="402770"/>
            <a:ext cx="5007429" cy="849085"/>
          </a:xfrm>
          <a:prstGeom prst="homePlat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>
                <a:solidFill>
                  <a:schemeClr val="bg1"/>
                </a:solidFill>
              </a:rPr>
              <a:t>      </a:t>
            </a:r>
            <a:r>
              <a:rPr lang="en-IN" sz="4400" b="1" dirty="0">
                <a:solidFill>
                  <a:schemeClr val="bg1"/>
                </a:solidFill>
              </a:rPr>
              <a:t>Workflow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C9C7C50-17B1-B2E8-10EB-4717EC40D25D}"/>
              </a:ext>
            </a:extLst>
          </p:cNvPr>
          <p:cNvSpPr/>
          <p:nvPr/>
        </p:nvSpPr>
        <p:spPr>
          <a:xfrm>
            <a:off x="8000997" y="1771626"/>
            <a:ext cx="2503714" cy="1181107"/>
          </a:xfrm>
          <a:prstGeom prst="roundRect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u="sng" dirty="0"/>
              <a:t>Remove duplicates from keywords</a:t>
            </a:r>
            <a:endParaRPr lang="en-IN" sz="16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sz="1600" dirty="0"/>
              <a:t>Using standalone code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3DC0E84-8653-AAFA-100C-A99F49C1A50F}"/>
              </a:ext>
            </a:extLst>
          </p:cNvPr>
          <p:cNvSpPr/>
          <p:nvPr/>
        </p:nvSpPr>
        <p:spPr>
          <a:xfrm>
            <a:off x="4813526" y="4253632"/>
            <a:ext cx="2503714" cy="849085"/>
          </a:xfrm>
          <a:prstGeom prst="roundRect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b="1" dirty="0"/>
              <a:t>Knowledge Graph</a:t>
            </a:r>
          </a:p>
          <a:p>
            <a:pPr algn="ctr"/>
            <a:r>
              <a:rPr lang="en-IN" i="1" dirty="0"/>
              <a:t>(</a:t>
            </a:r>
            <a:r>
              <a:rPr lang="en-IN" i="1" dirty="0" err="1"/>
              <a:t>Networkx</a:t>
            </a:r>
            <a:r>
              <a:rPr lang="en-IN" i="1" dirty="0"/>
              <a:t>)</a:t>
            </a:r>
          </a:p>
          <a:p>
            <a:pPr algn="ctr"/>
            <a:endParaRPr lang="en-IN" dirty="0"/>
          </a:p>
        </p:txBody>
      </p:sp>
      <p:pic>
        <p:nvPicPr>
          <p:cNvPr id="9" name="Graphic 8" descr="Arrow: Straight with solid fill">
            <a:extLst>
              <a:ext uri="{FF2B5EF4-FFF2-40B4-BE49-F238E27FC236}">
                <a16:creationId xmlns:a16="http://schemas.microsoft.com/office/drawing/2014/main" id="{F14B0637-FFC1-B44D-C37C-1B302D3FD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578681" y="1967588"/>
            <a:ext cx="914400" cy="914400"/>
          </a:xfrm>
          <a:prstGeom prst="rect">
            <a:avLst/>
          </a:prstGeom>
        </p:spPr>
      </p:pic>
      <p:pic>
        <p:nvPicPr>
          <p:cNvPr id="14" name="Graphic 13" descr="Arrow: Straight with solid fill">
            <a:extLst>
              <a:ext uri="{FF2B5EF4-FFF2-40B4-BE49-F238E27FC236}">
                <a16:creationId xmlns:a16="http://schemas.microsoft.com/office/drawing/2014/main" id="{3974F6F7-A575-3430-0919-8A5E22D418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056663" y="1904980"/>
            <a:ext cx="914400" cy="914400"/>
          </a:xfrm>
          <a:prstGeom prst="rect">
            <a:avLst/>
          </a:prstGeom>
        </p:spPr>
      </p:pic>
      <p:pic>
        <p:nvPicPr>
          <p:cNvPr id="15" name="Graphic 14" descr="Arrow: Straight with solid fill">
            <a:extLst>
              <a:ext uri="{FF2B5EF4-FFF2-40B4-BE49-F238E27FC236}">
                <a16:creationId xmlns:a16="http://schemas.microsoft.com/office/drawing/2014/main" id="{FC17A967-F6C7-841C-76AA-FFBA46D33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896351" y="3046648"/>
            <a:ext cx="914400" cy="914400"/>
          </a:xfrm>
          <a:prstGeom prst="rect">
            <a:avLst/>
          </a:prstGeom>
        </p:spPr>
      </p:pic>
      <p:pic>
        <p:nvPicPr>
          <p:cNvPr id="16" name="Graphic 15" descr="Arrow: Straight with solid fill">
            <a:extLst>
              <a:ext uri="{FF2B5EF4-FFF2-40B4-BE49-F238E27FC236}">
                <a16:creationId xmlns:a16="http://schemas.microsoft.com/office/drawing/2014/main" id="{EF84451B-7EEC-2071-B9EC-EAA54039C7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3094" y="422097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71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7D037-F202-0303-794A-B81F5BFCF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760CBF7-0D07-3699-515A-CEFC3DF4B8E4}"/>
              </a:ext>
            </a:extLst>
          </p:cNvPr>
          <p:cNvSpPr/>
          <p:nvPr/>
        </p:nvSpPr>
        <p:spPr>
          <a:xfrm>
            <a:off x="1426028" y="1817915"/>
            <a:ext cx="9176658" cy="101059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29EF9B34-35D1-D21F-DDBB-E70651493A31}"/>
              </a:ext>
            </a:extLst>
          </p:cNvPr>
          <p:cNvSpPr/>
          <p:nvPr/>
        </p:nvSpPr>
        <p:spPr>
          <a:xfrm>
            <a:off x="-1" y="402770"/>
            <a:ext cx="5976257" cy="849085"/>
          </a:xfrm>
          <a:prstGeom prst="homePlat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>
                <a:solidFill>
                  <a:schemeClr val="bg1"/>
                </a:solidFill>
              </a:rPr>
              <a:t>      </a:t>
            </a:r>
            <a:r>
              <a:rPr lang="en-IN" sz="4400" b="1" dirty="0">
                <a:solidFill>
                  <a:schemeClr val="bg1"/>
                </a:solidFill>
              </a:rPr>
              <a:t>Commands used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9529E6E-A31A-1EE2-C95C-93489B241A43}"/>
              </a:ext>
            </a:extLst>
          </p:cNvPr>
          <p:cNvSpPr/>
          <p:nvPr/>
        </p:nvSpPr>
        <p:spPr>
          <a:xfrm>
            <a:off x="1426028" y="3062894"/>
            <a:ext cx="9176658" cy="78721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36F2315-BB07-AB50-29D5-1DC800FC6F23}"/>
              </a:ext>
            </a:extLst>
          </p:cNvPr>
          <p:cNvSpPr/>
          <p:nvPr/>
        </p:nvSpPr>
        <p:spPr>
          <a:xfrm>
            <a:off x="1426028" y="3977293"/>
            <a:ext cx="9176658" cy="214437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F9580B-0C18-888C-8368-37436B49338E}"/>
              </a:ext>
            </a:extLst>
          </p:cNvPr>
          <p:cNvSpPr txBox="1"/>
          <p:nvPr/>
        </p:nvSpPr>
        <p:spPr>
          <a:xfrm>
            <a:off x="1175772" y="1945103"/>
            <a:ext cx="9176658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AutoNum type="arabicPeriod"/>
            </a:pPr>
            <a:r>
              <a:rPr lang="en-IN" b="1" dirty="0" err="1"/>
              <a:t>pygetpapers</a:t>
            </a:r>
            <a:r>
              <a:rPr lang="en-IN" b="1" dirty="0"/>
              <a:t>-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pygetpapers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-q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"Montreal Protocol"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-k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10 -o papers –p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b="1" dirty="0"/>
              <a:t>2. txt2phrases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	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txt2phrases auto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-i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pygetpapers_output/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-o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results/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-n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100</a:t>
            </a:r>
          </a:p>
          <a:p>
            <a:pPr lvl="1"/>
            <a:endParaRPr lang="pt-BR" dirty="0"/>
          </a:p>
          <a:p>
            <a:pPr lvl="1"/>
            <a:endParaRPr lang="pt-BR" sz="800" dirty="0"/>
          </a:p>
          <a:p>
            <a:pPr lvl="1"/>
            <a:r>
              <a:rPr lang="pt-BR" b="1" dirty="0"/>
              <a:t>3. amilib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amilib DICT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--words 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/mnt/c/users/workt/desktop/internship_sC/MP-Project/papers/keywords/keywords_cleaned.csv 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--description 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wikipedia wiktionary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--figures wikipedia --dict 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/mnt/c/users/workt/desktop/internship_sC/MP-Project/papers/encyclopedia_185.html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--operation create</a:t>
            </a:r>
          </a:p>
          <a:p>
            <a:pPr lvl="1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5811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A799C5-02B7-A3C4-A69E-CBC86F54E2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39" b="23316"/>
          <a:stretch>
            <a:fillRect/>
          </a:stretch>
        </p:blipFill>
        <p:spPr>
          <a:xfrm>
            <a:off x="351109" y="1703672"/>
            <a:ext cx="11216114" cy="3771841"/>
          </a:xfrm>
          <a:prstGeom prst="rect">
            <a:avLst/>
          </a:prstGeom>
        </p:spPr>
      </p:pic>
      <p:sp>
        <p:nvSpPr>
          <p:cNvPr id="2" name="Arrow: Pentagon 1">
            <a:extLst>
              <a:ext uri="{FF2B5EF4-FFF2-40B4-BE49-F238E27FC236}">
                <a16:creationId xmlns:a16="http://schemas.microsoft.com/office/drawing/2014/main" id="{805629B2-DD18-6B07-BAFF-7BAFF831CF93}"/>
              </a:ext>
            </a:extLst>
          </p:cNvPr>
          <p:cNvSpPr/>
          <p:nvPr/>
        </p:nvSpPr>
        <p:spPr>
          <a:xfrm>
            <a:off x="-1" y="402770"/>
            <a:ext cx="5007429" cy="849085"/>
          </a:xfrm>
          <a:prstGeom prst="homePlat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bg1"/>
                </a:solidFill>
              </a:rPr>
              <a:t>     </a:t>
            </a:r>
            <a:r>
              <a:rPr lang="en-IN" sz="3600" b="1" dirty="0" err="1">
                <a:solidFill>
                  <a:schemeClr val="bg1"/>
                </a:solidFill>
              </a:rPr>
              <a:t>Encyclopedia</a:t>
            </a:r>
            <a:endParaRPr lang="en-IN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9220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19C64-D23A-DA7B-7D36-2FF945E1F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Pentagon 1">
            <a:extLst>
              <a:ext uri="{FF2B5EF4-FFF2-40B4-BE49-F238E27FC236}">
                <a16:creationId xmlns:a16="http://schemas.microsoft.com/office/drawing/2014/main" id="{8D883403-7298-6124-43CA-077A29786BA5}"/>
              </a:ext>
            </a:extLst>
          </p:cNvPr>
          <p:cNvSpPr/>
          <p:nvPr/>
        </p:nvSpPr>
        <p:spPr>
          <a:xfrm>
            <a:off x="-1" y="402770"/>
            <a:ext cx="5007429" cy="849085"/>
          </a:xfrm>
          <a:prstGeom prst="homePlat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>
                <a:solidFill>
                  <a:schemeClr val="bg1"/>
                </a:solidFill>
              </a:rPr>
              <a:t>     Knowledge Graph</a:t>
            </a:r>
            <a:endParaRPr lang="en-IN" sz="36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BC0C82-8FA6-5AA5-DE17-80123D91D2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22" r="9941" b="3281"/>
          <a:stretch>
            <a:fillRect/>
          </a:stretch>
        </p:blipFill>
        <p:spPr>
          <a:xfrm>
            <a:off x="5162349" y="1002092"/>
            <a:ext cx="3895024" cy="504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05617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6709</TotalTime>
  <Words>231</Words>
  <Application>Microsoft Office PowerPoint</Application>
  <PresentationFormat>Widescreen</PresentationFormat>
  <Paragraphs>51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ADLaM Display</vt:lpstr>
      <vt:lpstr>Amasis MT Pro</vt:lpstr>
      <vt:lpstr>Aptos</vt:lpstr>
      <vt:lpstr>Arial</vt:lpstr>
      <vt:lpstr>Calibri</vt:lpstr>
      <vt:lpstr>Calibri Light</vt:lpstr>
      <vt:lpstr>Courier New</vt:lpstr>
      <vt:lpstr>Retrospect</vt:lpstr>
      <vt:lpstr>PowerPoint Presentation</vt:lpstr>
      <vt:lpstr>PowerPoint Presentation</vt:lpstr>
      <vt:lpstr>Team Members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taiba shamim</dc:creator>
  <cp:lastModifiedBy>taiba shamim</cp:lastModifiedBy>
  <cp:revision>13</cp:revision>
  <dcterms:created xsi:type="dcterms:W3CDTF">2026-02-09T00:11:53Z</dcterms:created>
  <dcterms:modified xsi:type="dcterms:W3CDTF">2026-02-25T08:08:38Z</dcterms:modified>
</cp:coreProperties>
</file>