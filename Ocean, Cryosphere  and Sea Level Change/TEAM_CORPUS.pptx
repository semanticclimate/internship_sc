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62" r:id="rId3"/>
    <p:sldId id="256" r:id="rId4"/>
    <p:sldId id="257" r:id="rId5"/>
    <p:sldId id="258" r:id="rId6"/>
    <p:sldId id="259" r:id="rId7"/>
    <p:sldId id="263" r:id="rId8"/>
    <p:sldId id="264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170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2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691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94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728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6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5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15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35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7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19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18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231924" y="541020"/>
            <a:ext cx="6842760" cy="2484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 smtClean="0">
                <a:latin typeface="Arial Black" panose="020B0A04020102020204" pitchFamily="34" charset="0"/>
              </a:rPr>
              <a:t>SEMANTIC_CORPUS</a:t>
            </a:r>
            <a:endParaRPr lang="en-IN" sz="4400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38825" y="3543300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-VAISHNAVI SHARMA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7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22960" y="286605"/>
            <a:ext cx="6873240" cy="1199296"/>
          </a:xfrm>
        </p:spPr>
        <p:txBody>
          <a:bodyPr/>
          <a:lstStyle/>
          <a:p>
            <a:r>
              <a:rPr lang="en-IN" dirty="0" smtClean="0"/>
              <a:t>WHAT &amp; WHY?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0" b="15781"/>
          <a:stretch/>
        </p:blipFill>
        <p:spPr>
          <a:xfrm>
            <a:off x="0" y="1600200"/>
            <a:ext cx="91440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18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</a:t>
            </a:r>
            <a:r>
              <a:rPr dirty="0" err="1" smtClean="0"/>
              <a:t>SemanticCorpus</a:t>
            </a:r>
            <a:r>
              <a:rPr dirty="0"/>
              <a:t>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00106"/>
            <a:ext cx="7425952" cy="3552969"/>
          </a:xfrm>
          <a:prstGeom prst="rect">
            <a:avLst/>
          </a:prstGeom>
          <a:solidFill>
            <a:schemeClr val="accent1">
              <a:lumMod val="75000"/>
              <a:alpha val="41000"/>
            </a:schemeClr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Why </a:t>
            </a:r>
            <a:r>
              <a:rPr lang="en-IN" dirty="0"/>
              <a:t>S</a:t>
            </a:r>
            <a:r>
              <a:rPr dirty="0" err="1" smtClean="0"/>
              <a:t>emantic</a:t>
            </a:r>
            <a:r>
              <a:rPr lang="en-IN" dirty="0"/>
              <a:t>C</a:t>
            </a:r>
            <a:r>
              <a:rPr dirty="0" err="1" smtClean="0"/>
              <a:t>orpus</a:t>
            </a:r>
            <a:r>
              <a:rPr dirty="0"/>
              <a:t>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30"/>
          <a:stretch/>
        </p:blipFill>
        <p:spPr>
          <a:xfrm>
            <a:off x="381482" y="1773130"/>
            <a:ext cx="8426755" cy="452067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Architecture of </a:t>
            </a:r>
            <a:r>
              <a:rPr lang="en-IN" dirty="0"/>
              <a:t>S</a:t>
            </a:r>
            <a:r>
              <a:rPr dirty="0" err="1" smtClean="0"/>
              <a:t>emantic</a:t>
            </a:r>
            <a:r>
              <a:rPr lang="en-IN" dirty="0" smtClean="0"/>
              <a:t>C</a:t>
            </a:r>
            <a:r>
              <a:rPr dirty="0" err="1" smtClean="0"/>
              <a:t>orpus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5124450" cy="3811044"/>
          </a:xfrm>
        </p:spPr>
        <p:txBody>
          <a:bodyPr>
            <a:normAutofit/>
          </a:bodyPr>
          <a:lstStyle/>
          <a:p>
            <a:endParaRPr lang="en-IN" sz="2400" dirty="0" smtClean="0"/>
          </a:p>
          <a:p>
            <a:r>
              <a:rPr sz="2400" dirty="0" smtClean="0"/>
              <a:t>Corpus </a:t>
            </a:r>
            <a:r>
              <a:rPr lang="en-IN" sz="2400" dirty="0" smtClean="0"/>
              <a:t>is </a:t>
            </a:r>
            <a:r>
              <a:rPr sz="2400" dirty="0" smtClean="0"/>
              <a:t>organized </a:t>
            </a:r>
            <a:r>
              <a:rPr sz="2400" dirty="0"/>
              <a:t>as directories and </a:t>
            </a:r>
            <a:r>
              <a:rPr sz="2400" dirty="0" smtClean="0"/>
              <a:t>files</a:t>
            </a:r>
            <a:r>
              <a:rPr lang="en-IN" sz="2400" dirty="0" smtClean="0"/>
              <a:t>.</a:t>
            </a:r>
            <a:endParaRPr sz="2400" dirty="0" smtClean="0"/>
          </a:p>
          <a:p>
            <a:r>
              <a:rPr sz="2400" dirty="0" smtClean="0"/>
              <a:t>Each </a:t>
            </a:r>
            <a:r>
              <a:rPr sz="2400" dirty="0"/>
              <a:t>document </a:t>
            </a:r>
            <a:r>
              <a:rPr lang="en-IN" sz="2400" dirty="0" smtClean="0"/>
              <a:t>is </a:t>
            </a:r>
            <a:r>
              <a:rPr sz="2400" dirty="0" smtClean="0"/>
              <a:t>stored </a:t>
            </a:r>
            <a:r>
              <a:rPr sz="2400" dirty="0"/>
              <a:t>with metadata and </a:t>
            </a:r>
            <a:r>
              <a:rPr sz="2400" dirty="0" smtClean="0"/>
              <a:t>identifiers</a:t>
            </a:r>
            <a:r>
              <a:rPr lang="en-IN" sz="2400" dirty="0" smtClean="0"/>
              <a:t>.</a:t>
            </a:r>
            <a:endParaRPr sz="2400" dirty="0"/>
          </a:p>
          <a:p>
            <a:r>
              <a:rPr sz="2400" dirty="0" smtClean="0"/>
              <a:t>Uses B</a:t>
            </a:r>
            <a:r>
              <a:rPr lang="en-IN" sz="2400" dirty="0" smtClean="0"/>
              <a:t>AGIT</a:t>
            </a:r>
            <a:r>
              <a:rPr sz="2400" dirty="0" smtClean="0"/>
              <a:t> </a:t>
            </a:r>
            <a:r>
              <a:rPr sz="2400" dirty="0"/>
              <a:t>specification for integrity and </a:t>
            </a:r>
            <a:r>
              <a:rPr sz="2400" dirty="0" smtClean="0"/>
              <a:t>preservation</a:t>
            </a:r>
            <a:r>
              <a:rPr lang="en-IN" sz="2400" dirty="0" smtClean="0"/>
              <a:t>.</a:t>
            </a:r>
            <a:endParaRPr sz="2400" dirty="0"/>
          </a:p>
          <a:p>
            <a:r>
              <a:rPr sz="2400" dirty="0" smtClean="0"/>
              <a:t>Designed </a:t>
            </a:r>
            <a:r>
              <a:rPr sz="2400" dirty="0"/>
              <a:t>to be </a:t>
            </a:r>
            <a:r>
              <a:rPr sz="2400" dirty="0" smtClean="0"/>
              <a:t>version</a:t>
            </a:r>
            <a:r>
              <a:rPr lang="en-IN" sz="2400" dirty="0" smtClean="0"/>
              <a:t> </a:t>
            </a:r>
            <a:r>
              <a:rPr sz="2400" dirty="0" smtClean="0"/>
              <a:t>controlled </a:t>
            </a:r>
            <a:r>
              <a:rPr sz="2400" dirty="0"/>
              <a:t>(</a:t>
            </a:r>
            <a:r>
              <a:rPr sz="2400" dirty="0" err="1" smtClean="0"/>
              <a:t>e.g</a:t>
            </a:r>
            <a:r>
              <a:rPr lang="en-IN" sz="2400" dirty="0" smtClean="0"/>
              <a:t>.-</a:t>
            </a:r>
            <a:r>
              <a:rPr sz="2400" dirty="0" smtClean="0"/>
              <a:t> </a:t>
            </a:r>
            <a:r>
              <a:rPr sz="2400" dirty="0" err="1"/>
              <a:t>GitHub</a:t>
            </a:r>
            <a:r>
              <a:rPr sz="2400" dirty="0" smtClean="0"/>
              <a:t>)</a:t>
            </a:r>
            <a:r>
              <a:rPr lang="en-IN" sz="2400" dirty="0" smtClean="0"/>
              <a:t>.</a:t>
            </a:r>
          </a:p>
        </p:txBody>
      </p:sp>
      <p:sp>
        <p:nvSpPr>
          <p:cNvPr id="4" name="Flowchart: Process 3"/>
          <p:cNvSpPr/>
          <p:nvPr/>
        </p:nvSpPr>
        <p:spPr>
          <a:xfrm>
            <a:off x="1777979" y="5423594"/>
            <a:ext cx="4578393" cy="771525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Simple folders + standard formats </a:t>
            </a:r>
            <a:r>
              <a:rPr lang="en-IN" b="1" dirty="0" smtClean="0">
                <a:solidFill>
                  <a:schemeClr val="tx1"/>
                </a:solidFill>
              </a:rPr>
              <a:t>+</a:t>
            </a:r>
          </a:p>
          <a:p>
            <a:r>
              <a:rPr lang="en-IN" b="1" dirty="0" smtClean="0">
                <a:solidFill>
                  <a:schemeClr val="tx1"/>
                </a:solidFill>
              </a:rPr>
              <a:t> BAGIT </a:t>
            </a:r>
            <a:r>
              <a:rPr lang="en-IN" b="1" dirty="0">
                <a:solidFill>
                  <a:schemeClr val="tx1"/>
                </a:solidFill>
              </a:rPr>
              <a:t>for reliability + Git for version control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305" y="836613"/>
            <a:ext cx="1895740" cy="49727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0" y="274638"/>
            <a:ext cx="3886200" cy="1143000"/>
          </a:xfrm>
        </p:spPr>
        <p:txBody>
          <a:bodyPr>
            <a:normAutofit/>
          </a:bodyPr>
          <a:lstStyle/>
          <a:p>
            <a:r>
              <a:rPr lang="en-IN" dirty="0" smtClean="0"/>
              <a:t>INGESTION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19" y="132923"/>
            <a:ext cx="2410161" cy="6115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6593" y="2029342"/>
            <a:ext cx="3648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process of bringing documents into a corpus in a structured, validated, and usable way.</a:t>
            </a:r>
            <a:endParaRPr lang="en-IN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020907" y="3080861"/>
            <a:ext cx="952500" cy="95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630631" y="3080861"/>
            <a:ext cx="866775" cy="952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30295" y="3982998"/>
            <a:ext cx="218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ACTIVE INGESTION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6743700" y="3982998"/>
            <a:ext cx="233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LOCAL INGESTION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202990" y="4488457"/>
            <a:ext cx="1352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-starts with query.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6819900" y="4352330"/>
            <a:ext cx="1562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- starts with existing files.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BagIt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03" y="3947988"/>
            <a:ext cx="2276793" cy="1781424"/>
          </a:xfrm>
        </p:spPr>
      </p:pic>
      <p:sp>
        <p:nvSpPr>
          <p:cNvPr id="5" name="Right Arrow 4"/>
          <p:cNvSpPr/>
          <p:nvPr/>
        </p:nvSpPr>
        <p:spPr>
          <a:xfrm>
            <a:off x="3190875" y="4657725"/>
            <a:ext cx="838200" cy="4095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625" y="4343327"/>
            <a:ext cx="4467849" cy="1038370"/>
          </a:xfrm>
          <a:prstGeom prst="rect">
            <a:avLst/>
          </a:prstGeom>
        </p:spPr>
      </p:pic>
      <p:sp>
        <p:nvSpPr>
          <p:cNvPr id="7" name="Left Brace 6"/>
          <p:cNvSpPr/>
          <p:nvPr/>
        </p:nvSpPr>
        <p:spPr>
          <a:xfrm>
            <a:off x="4181475" y="4038600"/>
            <a:ext cx="271150" cy="14287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Brace 7"/>
          <p:cNvSpPr/>
          <p:nvPr/>
        </p:nvSpPr>
        <p:spPr>
          <a:xfrm>
            <a:off x="8760774" y="4038600"/>
            <a:ext cx="319399" cy="14287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1038225" y="2095500"/>
            <a:ext cx="7400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BagIt</a:t>
            </a:r>
            <a:r>
              <a:rPr lang="en-US" dirty="0"/>
              <a:t> is a standardized file packaging format used to store and transfer digital content </a:t>
            </a:r>
            <a:r>
              <a:rPr lang="en-US" dirty="0" smtClean="0"/>
              <a:t>reliably, to check if the data is completed and unchanged.</a:t>
            </a:r>
          </a:p>
          <a:p>
            <a:r>
              <a:rPr lang="en-US" dirty="0" smtClean="0"/>
              <a:t>It </a:t>
            </a:r>
            <a:r>
              <a:rPr lang="en-US" dirty="0"/>
              <a:t>was developed by the Library of Congress and is widely used in digital archives, research data management, and preservation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570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GOALS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1076325" y="2409825"/>
            <a:ext cx="2257425" cy="2019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smtClean="0"/>
              <a:t>BAGIT </a:t>
            </a:r>
          </a:p>
          <a:p>
            <a:pPr algn="ctr"/>
            <a:r>
              <a:rPr lang="en-IN" sz="2400" dirty="0" smtClean="0"/>
              <a:t>IMPORT</a:t>
            </a:r>
          </a:p>
          <a:p>
            <a:pPr algn="ctr"/>
            <a:r>
              <a:rPr lang="en-IN" sz="2400" dirty="0" smtClean="0"/>
              <a:t>FEATURE</a:t>
            </a:r>
            <a:endParaRPr lang="en-IN" sz="2400" dirty="0"/>
          </a:p>
        </p:txBody>
      </p:sp>
      <p:sp>
        <p:nvSpPr>
          <p:cNvPr id="5" name="Oval 4"/>
          <p:cNvSpPr/>
          <p:nvPr/>
        </p:nvSpPr>
        <p:spPr>
          <a:xfrm>
            <a:off x="4953000" y="3038475"/>
            <a:ext cx="2171700" cy="20764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smtClean="0"/>
              <a:t>PDF</a:t>
            </a:r>
          </a:p>
          <a:p>
            <a:pPr algn="ctr"/>
            <a:r>
              <a:rPr lang="en-IN" sz="2400" dirty="0" smtClean="0"/>
              <a:t>IMPORT</a:t>
            </a:r>
          </a:p>
          <a:p>
            <a:pPr algn="ctr"/>
            <a:r>
              <a:rPr lang="en-IN" sz="2400" dirty="0" smtClean="0"/>
              <a:t>FEATURE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6235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4526" y="2705104"/>
            <a:ext cx="6348412" cy="609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8000" dirty="0" smtClean="0"/>
              <a:t>THANK YOU!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37602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393</TotalTime>
  <Words>172</Words>
  <Application>Microsoft Office PowerPoint</Application>
  <PresentationFormat>On-screen Show (4:3)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 Black</vt:lpstr>
      <vt:lpstr>Calibri</vt:lpstr>
      <vt:lpstr>Calibri Light</vt:lpstr>
      <vt:lpstr>Retrospect</vt:lpstr>
      <vt:lpstr>PowerPoint Presentation</vt:lpstr>
      <vt:lpstr>WHAT &amp; WHY?</vt:lpstr>
      <vt:lpstr>What is a SemanticCorpus?</vt:lpstr>
      <vt:lpstr>Why SemanticCorpus?</vt:lpstr>
      <vt:lpstr>Architecture of SemanticCorpus</vt:lpstr>
      <vt:lpstr>INGESTION</vt:lpstr>
      <vt:lpstr>BagIt</vt:lpstr>
      <vt:lpstr>GOALS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SEMANTIC_CORPUS</dc:title>
  <dc:subject/>
  <dc:creator>VAISHNAVI</dc:creator>
  <cp:keywords/>
  <dc:description>generated using python-pptx</dc:description>
  <cp:lastModifiedBy>Microsoft account</cp:lastModifiedBy>
  <cp:revision>19</cp:revision>
  <dcterms:created xsi:type="dcterms:W3CDTF">2013-01-27T09:14:16Z</dcterms:created>
  <dcterms:modified xsi:type="dcterms:W3CDTF">2026-02-26T05:06:02Z</dcterms:modified>
  <cp:category/>
</cp:coreProperties>
</file>