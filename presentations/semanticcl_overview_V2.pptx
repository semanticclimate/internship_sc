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3" r:id="rId3"/>
    <p:sldId id="284" r:id="rId4"/>
    <p:sldId id="285" r:id="rId5"/>
    <p:sldId id="286" r:id="rId6"/>
    <p:sldId id="263" r:id="rId7"/>
    <p:sldId id="264" r:id="rId8"/>
    <p:sldId id="275" r:id="rId9"/>
    <p:sldId id="276" r:id="rId10"/>
    <p:sldId id="277" r:id="rId11"/>
    <p:sldId id="269" r:id="rId12"/>
    <p:sldId id="280" r:id="rId13"/>
    <p:sldId id="278" r:id="rId14"/>
    <p:sldId id="281" r:id="rId15"/>
    <p:sldId id="274" r:id="rId16"/>
    <p:sldId id="282"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65"/>
    <p:restoredTop sz="94613"/>
  </p:normalViewPr>
  <p:slideViewPr>
    <p:cSldViewPr snapToGrid="0">
      <p:cViewPr>
        <p:scale>
          <a:sx n="101" d="100"/>
          <a:sy n="101" d="100"/>
        </p:scale>
        <p:origin x="2272" y="1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C492B-2988-FE13-ABC1-0FFCE6102E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38739D-7D63-158E-B96D-6FC1BB87C5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3AC585-789A-8EDB-C874-11DE4157AC4C}"/>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5" name="Footer Placeholder 4">
            <a:extLst>
              <a:ext uri="{FF2B5EF4-FFF2-40B4-BE49-F238E27FC236}">
                <a16:creationId xmlns:a16="http://schemas.microsoft.com/office/drawing/2014/main" id="{F3B1E5E4-002F-AD90-B6DB-AC7488ED5D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A37C6B-EC57-77A0-A806-E6618AD5D0DA}"/>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2013463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13009-3B27-7187-61F6-48184F5240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16AC40-6C06-3839-AF97-669B3AB3D9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6562BD-593E-2179-6B5C-3F0633F2766B}"/>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5" name="Footer Placeholder 4">
            <a:extLst>
              <a:ext uri="{FF2B5EF4-FFF2-40B4-BE49-F238E27FC236}">
                <a16:creationId xmlns:a16="http://schemas.microsoft.com/office/drawing/2014/main" id="{4A4C1594-B972-3581-2BED-C6006FDB51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8152A1-C93D-BEC6-2D61-24F393BCF604}"/>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2265820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67377-70EC-A3CE-CB05-499B2820B9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EDCBCA-8854-B8C9-D3B0-2AFFB83A4B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FAE629-2272-8BB6-A457-57F14CE39029}"/>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5" name="Footer Placeholder 4">
            <a:extLst>
              <a:ext uri="{FF2B5EF4-FFF2-40B4-BE49-F238E27FC236}">
                <a16:creationId xmlns:a16="http://schemas.microsoft.com/office/drawing/2014/main" id="{D70796E3-ACFC-9B24-6642-EAD1C0D361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45891E-EA1B-CFFD-0590-ED0F52C4CB77}"/>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1705554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92AED-FD40-C696-03A9-5C85E82B76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FF9690-C610-7478-B561-B0ACA4C192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DF3A80-B3C4-3E80-ED2E-73CFFF9F7E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A1EB82-2A20-E691-EECF-5667460C8F81}"/>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6" name="Footer Placeholder 5">
            <a:extLst>
              <a:ext uri="{FF2B5EF4-FFF2-40B4-BE49-F238E27FC236}">
                <a16:creationId xmlns:a16="http://schemas.microsoft.com/office/drawing/2014/main" id="{F14A456D-2202-BCFF-429E-461B844D67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48097C-F96F-39AB-0CF9-A1E770318671}"/>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3508980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8B1B-5985-3F43-A44E-5A1A26FE78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2C3F62-4305-4BA0-5AFF-BA5439CA72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720AF4-8A48-A588-AB37-A63F0DCA19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77552E5-3822-5086-DEF0-F0F5355675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F355BA-A6FF-1C43-EA67-D7920173BE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767147-EE11-557A-2933-FB985A1E4E34}"/>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8" name="Footer Placeholder 7">
            <a:extLst>
              <a:ext uri="{FF2B5EF4-FFF2-40B4-BE49-F238E27FC236}">
                <a16:creationId xmlns:a16="http://schemas.microsoft.com/office/drawing/2014/main" id="{E857CBA3-9111-BFE4-966E-FC2C164451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8DD7BF-6210-D6E3-83B1-B3B3FDEFBD8F}"/>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1345894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D885C-9ABC-6DE4-1D51-761752E3047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8EFDF7-5F87-5E69-0174-7F8DA8253994}"/>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4" name="Footer Placeholder 3">
            <a:extLst>
              <a:ext uri="{FF2B5EF4-FFF2-40B4-BE49-F238E27FC236}">
                <a16:creationId xmlns:a16="http://schemas.microsoft.com/office/drawing/2014/main" id="{BCADCD44-E3AD-4759-9BDE-5BD94EE0CD0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AE2024-4EF7-6282-3801-7E1C34A93535}"/>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1025335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D6DCF8-70A3-52E4-F79B-1428971D1194}"/>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3" name="Footer Placeholder 2">
            <a:extLst>
              <a:ext uri="{FF2B5EF4-FFF2-40B4-BE49-F238E27FC236}">
                <a16:creationId xmlns:a16="http://schemas.microsoft.com/office/drawing/2014/main" id="{A5287C5C-0AD1-C12A-12A2-925BD2B3A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7E3664-EA91-D270-4D0A-D8C7FC62CA20}"/>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156915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4D1B1-22FC-3E0C-1F3C-C21A118E44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851BEA-AA17-B426-E2D8-83E904B552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DD7D99-D711-22CC-2F52-BE14D08924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371C16-2EE5-794A-290D-D12A7F467CAD}"/>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6" name="Footer Placeholder 5">
            <a:extLst>
              <a:ext uri="{FF2B5EF4-FFF2-40B4-BE49-F238E27FC236}">
                <a16:creationId xmlns:a16="http://schemas.microsoft.com/office/drawing/2014/main" id="{E8AA9C15-AC99-821F-183D-3F73515653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173300-0D76-B067-5776-CD4625529D02}"/>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1984751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750DB-A0A3-4C6F-7002-A9F32DF30F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1433AC-20F1-5363-765C-FB7B017231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6D22B3-7A5E-0C78-31C4-62585C5F09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9C7EF5-51A8-5088-F239-310200797602}"/>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6" name="Footer Placeholder 5">
            <a:extLst>
              <a:ext uri="{FF2B5EF4-FFF2-40B4-BE49-F238E27FC236}">
                <a16:creationId xmlns:a16="http://schemas.microsoft.com/office/drawing/2014/main" id="{1F84E9EA-1E8C-0C8C-0E04-860CD8BD8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406299-E1AD-72C6-8E9F-5B0FFC2CE9C2}"/>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339516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9FE86-661D-77DD-8144-7322A58CD6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9C9882-7E19-A15E-8B0B-5AB17B3B67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5DF377-E091-AE5E-120C-16865992A4F5}"/>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5" name="Footer Placeholder 4">
            <a:extLst>
              <a:ext uri="{FF2B5EF4-FFF2-40B4-BE49-F238E27FC236}">
                <a16:creationId xmlns:a16="http://schemas.microsoft.com/office/drawing/2014/main" id="{86567243-5A68-FE93-3168-05105F02C6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C60350-9A38-DC3C-B1AD-602CFD66310F}"/>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839892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022507-820C-66D7-BBC3-3DCA0B1D5B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CD489D-631E-3C17-9536-984D4C6DD5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E779EF-2DEC-83D9-1986-45DFCF5D403D}"/>
              </a:ext>
            </a:extLst>
          </p:cNvPr>
          <p:cNvSpPr>
            <a:spLocks noGrp="1"/>
          </p:cNvSpPr>
          <p:nvPr>
            <p:ph type="dt" sz="half" idx="10"/>
          </p:nvPr>
        </p:nvSpPr>
        <p:spPr/>
        <p:txBody>
          <a:bodyPr/>
          <a:lstStyle/>
          <a:p>
            <a:fld id="{DC34081E-4D5B-DC47-AF23-80E9B1F5868D}" type="datetimeFigureOut">
              <a:rPr lang="en-US" smtClean="0"/>
              <a:t>2/26/26</a:t>
            </a:fld>
            <a:endParaRPr lang="en-US"/>
          </a:p>
        </p:txBody>
      </p:sp>
      <p:sp>
        <p:nvSpPr>
          <p:cNvPr id="5" name="Footer Placeholder 4">
            <a:extLst>
              <a:ext uri="{FF2B5EF4-FFF2-40B4-BE49-F238E27FC236}">
                <a16:creationId xmlns:a16="http://schemas.microsoft.com/office/drawing/2014/main" id="{0F5C7F4E-A7DB-26A6-F97A-4BE051D24B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2A1F8C-3C31-3494-DEDC-69E018C9F26F}"/>
              </a:ext>
            </a:extLst>
          </p:cNvPr>
          <p:cNvSpPr>
            <a:spLocks noGrp="1"/>
          </p:cNvSpPr>
          <p:nvPr>
            <p:ph type="sldNum" sz="quarter" idx="12"/>
          </p:nvPr>
        </p:nvSpPr>
        <p:spPr/>
        <p:txBody>
          <a:bodyPr/>
          <a:lstStyle/>
          <a:p>
            <a:fld id="{0CFF65D9-B764-C841-A88E-72FF486AE3DA}" type="slidenum">
              <a:rPr lang="en-US" smtClean="0"/>
              <a:t>‹#›</a:t>
            </a:fld>
            <a:endParaRPr lang="en-US"/>
          </a:p>
        </p:txBody>
      </p:sp>
    </p:spTree>
    <p:extLst>
      <p:ext uri="{BB962C8B-B14F-4D97-AF65-F5344CB8AC3E}">
        <p14:creationId xmlns:p14="http://schemas.microsoft.com/office/powerpoint/2010/main" val="822099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6C7728-6F80-6DCD-195E-CF9F6FEB03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D46F4F-09EA-713E-7790-738D78734E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81D1B2-262E-1641-6ECF-1273ADA7C8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34081E-4D5B-DC47-AF23-80E9B1F5868D}" type="datetimeFigureOut">
              <a:rPr lang="en-US" smtClean="0"/>
              <a:t>2/26/26</a:t>
            </a:fld>
            <a:endParaRPr lang="en-US"/>
          </a:p>
        </p:txBody>
      </p:sp>
      <p:sp>
        <p:nvSpPr>
          <p:cNvPr id="5" name="Footer Placeholder 4">
            <a:extLst>
              <a:ext uri="{FF2B5EF4-FFF2-40B4-BE49-F238E27FC236}">
                <a16:creationId xmlns:a16="http://schemas.microsoft.com/office/drawing/2014/main" id="{399F5174-730F-9865-45E3-3CA1A9E4F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7CC81CF-07C9-BC66-1AD3-BFD0A75BC7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FF65D9-B764-C841-A88E-72FF486AE3DA}" type="slidenum">
              <a:rPr lang="en-US" smtClean="0"/>
              <a:t>‹#›</a:t>
            </a:fld>
            <a:endParaRPr lang="en-US"/>
          </a:p>
        </p:txBody>
      </p:sp>
    </p:spTree>
    <p:extLst>
      <p:ext uri="{BB962C8B-B14F-4D97-AF65-F5344CB8AC3E}">
        <p14:creationId xmlns:p14="http://schemas.microsoft.com/office/powerpoint/2010/main" val="424257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9B63C-A5F2-3F3E-AB02-C835C346F760}"/>
              </a:ext>
            </a:extLst>
          </p:cNvPr>
          <p:cNvSpPr>
            <a:spLocks noGrp="1"/>
          </p:cNvSpPr>
          <p:nvPr>
            <p:ph type="ctrTitle"/>
          </p:nvPr>
        </p:nvSpPr>
        <p:spPr>
          <a:xfrm>
            <a:off x="1527544" y="1676400"/>
            <a:ext cx="9144000" cy="2387600"/>
          </a:xfrm>
        </p:spPr>
        <p:txBody>
          <a:bodyPr/>
          <a:lstStyle/>
          <a:p>
            <a:r>
              <a:rPr lang="en-US" b="1" dirty="0">
                <a:latin typeface="Helvetica Neue" panose="02000503000000020004" pitchFamily="2" charset="0"/>
                <a:ea typeface="Helvetica Neue" panose="02000503000000020004" pitchFamily="2" charset="0"/>
                <a:cs typeface="Helvetica Neue" panose="02000503000000020004" pitchFamily="2" charset="0"/>
              </a:rPr>
              <a:t>#semantic</a:t>
            </a:r>
            <a:r>
              <a:rPr lang="en-US" b="1" i="1" dirty="0">
                <a:latin typeface="Helvetica Neue" panose="02000503000000020004" pitchFamily="2" charset="0"/>
                <a:ea typeface="Helvetica Neue" panose="02000503000000020004" pitchFamily="2" charset="0"/>
                <a:cs typeface="Helvetica Neue" panose="02000503000000020004" pitchFamily="2" charset="0"/>
              </a:rPr>
              <a:t>Climate</a:t>
            </a:r>
          </a:p>
        </p:txBody>
      </p:sp>
      <p:sp>
        <p:nvSpPr>
          <p:cNvPr id="3" name="Subtitle 2">
            <a:extLst>
              <a:ext uri="{FF2B5EF4-FFF2-40B4-BE49-F238E27FC236}">
                <a16:creationId xmlns:a16="http://schemas.microsoft.com/office/drawing/2014/main" id="{B84CEFC2-36FC-171A-BEE9-3C0712655478}"/>
              </a:ext>
            </a:extLst>
          </p:cNvPr>
          <p:cNvSpPr>
            <a:spLocks noGrp="1"/>
          </p:cNvSpPr>
          <p:nvPr>
            <p:ph type="subTitle" idx="1"/>
          </p:nvPr>
        </p:nvSpPr>
        <p:spPr>
          <a:xfrm>
            <a:off x="1524000" y="4208094"/>
            <a:ext cx="9144000" cy="1655762"/>
          </a:xfrm>
        </p:spPr>
        <p:txBody>
          <a:bodyPr>
            <a:normAutofit/>
          </a:bodyPr>
          <a:lstStyle/>
          <a:p>
            <a:r>
              <a:rPr lang="en-US" sz="3600" b="1" dirty="0">
                <a:latin typeface="Helvetica Neue" panose="02000503000000020004" pitchFamily="2" charset="0"/>
                <a:ea typeface="Helvetica Neue" panose="02000503000000020004" pitchFamily="2" charset="0"/>
                <a:cs typeface="Helvetica Neue" panose="02000503000000020004" pitchFamily="2" charset="0"/>
              </a:rPr>
              <a:t>Project Overview</a:t>
            </a:r>
          </a:p>
        </p:txBody>
      </p:sp>
      <p:pic>
        <p:nvPicPr>
          <p:cNvPr id="1026" name="Picture 2">
            <a:extLst>
              <a:ext uri="{FF2B5EF4-FFF2-40B4-BE49-F238E27FC236}">
                <a16:creationId xmlns:a16="http://schemas.microsoft.com/office/drawing/2014/main" id="{287F9691-D150-F0CD-7A69-C2B3B41EB1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6000" y="787400"/>
            <a:ext cx="25400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4517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F128E-A459-B502-8F55-179FC9AE29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19D5C-B6B2-84D2-698E-9634EE6E17D2}"/>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D81CF4C5-DB21-0F52-4403-A076198FB8CB}"/>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9D49F975-7E77-039F-6507-7D79A3BC7073}"/>
              </a:ext>
            </a:extLst>
          </p:cNvPr>
          <p:cNvSpPr txBox="1"/>
          <p:nvPr/>
        </p:nvSpPr>
        <p:spPr>
          <a:xfrm>
            <a:off x="838200" y="600534"/>
            <a:ext cx="8256046" cy="584775"/>
          </a:xfrm>
          <a:prstGeom prst="rect">
            <a:avLst/>
          </a:prstGeom>
          <a:noFill/>
        </p:spPr>
        <p:txBody>
          <a:bodyPr wrap="square">
            <a:spAutoFit/>
          </a:bodyPr>
          <a:lstStyle/>
          <a:p>
            <a:r>
              <a:rPr lang="en-US" sz="3200" b="1" dirty="0">
                <a:latin typeface="Helvetica Neue" panose="02000503000000020004" pitchFamily="2" charset="0"/>
                <a:ea typeface="Helvetica Neue" panose="02000503000000020004" pitchFamily="2" charset="0"/>
                <a:cs typeface="Helvetica Neue" panose="02000503000000020004" pitchFamily="2" charset="0"/>
              </a:rPr>
              <a:t>From Data Deluge to Climate Action</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1" name="Picture 2">
            <a:extLst>
              <a:ext uri="{FF2B5EF4-FFF2-40B4-BE49-F238E27FC236}">
                <a16:creationId xmlns:a16="http://schemas.microsoft.com/office/drawing/2014/main" id="{E71A31C0-337C-4D87-B676-4852C8F027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26763244-CAD3-C791-E71D-7D96C51796A8}"/>
              </a:ext>
            </a:extLst>
          </p:cNvPr>
          <p:cNvSpPr txBox="1"/>
          <p:nvPr/>
        </p:nvSpPr>
        <p:spPr>
          <a:xfrm>
            <a:off x="542544" y="1768115"/>
            <a:ext cx="8004586" cy="3477875"/>
          </a:xfrm>
          <a:prstGeom prst="rect">
            <a:avLst/>
          </a:prstGeom>
          <a:noFill/>
        </p:spPr>
        <p:txBody>
          <a:bodyPr wrap="square" rtlCol="0">
            <a:spAutoFit/>
          </a:bodyPr>
          <a:lstStyle/>
          <a:p>
            <a:pPr marL="285750" indent="-285750">
              <a:buFont typeface="Arial" panose="020B0604020202020204" pitchFamily="34" charset="0"/>
              <a:buChar char="•"/>
            </a:pPr>
            <a:r>
              <a:rPr lang="en-US" sz="2000" dirty="0"/>
              <a:t>Massive data deluge makes information overwhelming and often useless</a:t>
            </a:r>
          </a:p>
          <a:p>
            <a:pPr marL="285750" indent="-285750">
              <a:buFont typeface="Arial" panose="020B0604020202020204" pitchFamily="34" charset="0"/>
              <a:buChar char="•"/>
            </a:pPr>
            <a:r>
              <a:rPr lang="en-US" sz="2000" dirty="0"/>
              <a:t>Data management challenges faced by students, researchers, scientists, and open-source developers</a:t>
            </a:r>
          </a:p>
          <a:p>
            <a:pPr marL="285750" indent="-285750">
              <a:lnSpc>
                <a:spcPct val="150000"/>
              </a:lnSpc>
              <a:buFont typeface="Arial" panose="020B0604020202020204" pitchFamily="34" charset="0"/>
              <a:buChar char="•"/>
            </a:pPr>
            <a:r>
              <a:rPr lang="en-US" sz="2000" dirty="0"/>
              <a:t>Most research exists in unstructured formats such as PDFs</a:t>
            </a:r>
          </a:p>
          <a:p>
            <a:pPr marL="285750" indent="-285750">
              <a:lnSpc>
                <a:spcPct val="150000"/>
              </a:lnSpc>
              <a:buFont typeface="Arial" panose="020B0604020202020204" pitchFamily="34" charset="0"/>
              <a:buChar char="•"/>
            </a:pPr>
            <a:r>
              <a:rPr lang="en-US" sz="2000" dirty="0"/>
              <a:t>PDFs are not inherently machine readable</a:t>
            </a:r>
          </a:p>
          <a:p>
            <a:pPr marL="285750" indent="-285750">
              <a:buFont typeface="Arial" panose="020B0604020202020204" pitchFamily="34" charset="0"/>
              <a:buChar char="•"/>
            </a:pPr>
            <a:r>
              <a:rPr lang="en-US" sz="2000" dirty="0"/>
              <a:t>Critical global climate data remains inaccessible and difficult to navigate</a:t>
            </a:r>
          </a:p>
          <a:p>
            <a:pPr marL="285750" indent="-285750">
              <a:buFont typeface="Arial" panose="020B0604020202020204" pitchFamily="34" charset="0"/>
              <a:buChar char="•"/>
            </a:pPr>
            <a:r>
              <a:rPr lang="en-US" sz="2000" dirty="0"/>
              <a:t>Young people especially lack structured access to climate knowledge</a:t>
            </a:r>
          </a:p>
        </p:txBody>
      </p:sp>
      <p:sp>
        <p:nvSpPr>
          <p:cNvPr id="4" name="TextBox 3">
            <a:extLst>
              <a:ext uri="{FF2B5EF4-FFF2-40B4-BE49-F238E27FC236}">
                <a16:creationId xmlns:a16="http://schemas.microsoft.com/office/drawing/2014/main" id="{E8CC58E5-C83C-0F9C-0646-440E95962744}"/>
              </a:ext>
            </a:extLst>
          </p:cNvPr>
          <p:cNvSpPr txBox="1"/>
          <p:nvPr/>
        </p:nvSpPr>
        <p:spPr>
          <a:xfrm>
            <a:off x="838200" y="1196705"/>
            <a:ext cx="1801458" cy="400110"/>
          </a:xfrm>
          <a:prstGeom prst="rect">
            <a:avLst/>
          </a:prstGeom>
          <a:noFill/>
        </p:spPr>
        <p:txBody>
          <a:bodyPr wrap="square" rtlCol="0">
            <a:spAutoFit/>
          </a:bodyPr>
          <a:lstStyle/>
          <a:p>
            <a:r>
              <a:rPr lang="en-US" sz="2000" b="1" i="1" dirty="0"/>
              <a:t>The Problem</a:t>
            </a:r>
          </a:p>
        </p:txBody>
      </p:sp>
      <p:pic>
        <p:nvPicPr>
          <p:cNvPr id="14" name="Picture 13">
            <a:extLst>
              <a:ext uri="{FF2B5EF4-FFF2-40B4-BE49-F238E27FC236}">
                <a16:creationId xmlns:a16="http://schemas.microsoft.com/office/drawing/2014/main" id="{D8DE3B86-9148-5AF1-20CF-3240791F19F1}"/>
              </a:ext>
            </a:extLst>
          </p:cNvPr>
          <p:cNvPicPr>
            <a:picLocks noChangeAspect="1"/>
          </p:cNvPicPr>
          <p:nvPr/>
        </p:nvPicPr>
        <p:blipFill>
          <a:blip r:embed="rId3"/>
          <a:stretch>
            <a:fillRect/>
          </a:stretch>
        </p:blipFill>
        <p:spPr>
          <a:xfrm>
            <a:off x="8842786" y="1320246"/>
            <a:ext cx="2294068" cy="4133153"/>
          </a:xfrm>
          <a:prstGeom prst="rect">
            <a:avLst/>
          </a:prstGeom>
        </p:spPr>
      </p:pic>
    </p:spTree>
    <p:extLst>
      <p:ext uri="{BB962C8B-B14F-4D97-AF65-F5344CB8AC3E}">
        <p14:creationId xmlns:p14="http://schemas.microsoft.com/office/powerpoint/2010/main" val="3925896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67B48-76A7-30AF-3256-1D15D39E4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8B4C2-3777-39B4-368A-3B5D67B101DD}"/>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EBD1E6D6-81A6-0DE5-2AD1-DBD3F2CBE323}"/>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3B429EC4-B24B-BAB4-D3C4-E7BA72D8AF44}"/>
              </a:ext>
            </a:extLst>
          </p:cNvPr>
          <p:cNvSpPr txBox="1"/>
          <p:nvPr/>
        </p:nvSpPr>
        <p:spPr>
          <a:xfrm>
            <a:off x="838200" y="723662"/>
            <a:ext cx="8256046" cy="584775"/>
          </a:xfrm>
          <a:prstGeom prst="rect">
            <a:avLst/>
          </a:prstGeom>
          <a:noFill/>
        </p:spPr>
        <p:txBody>
          <a:bodyPr wrap="square">
            <a:spAutoFit/>
          </a:bodyPr>
          <a:lstStyle/>
          <a:p>
            <a:r>
              <a:rPr lang="en-US" sz="3200" b="1" dirty="0">
                <a:latin typeface="Helvetica Neue" panose="02000503000000020004" pitchFamily="2" charset="0"/>
                <a:ea typeface="Helvetica Neue" panose="02000503000000020004" pitchFamily="2" charset="0"/>
                <a:cs typeface="Helvetica Neue" panose="02000503000000020004" pitchFamily="2" charset="0"/>
              </a:rPr>
              <a:t>Why It Matters</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1" name="Picture 2">
            <a:extLst>
              <a:ext uri="{FF2B5EF4-FFF2-40B4-BE49-F238E27FC236}">
                <a16:creationId xmlns:a16="http://schemas.microsoft.com/office/drawing/2014/main" id="{67FFFEBC-8DDF-559E-8572-97D4DE7704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463FC3BC-25F0-131B-18B3-82109F69329A}"/>
              </a:ext>
            </a:extLst>
          </p:cNvPr>
          <p:cNvSpPr txBox="1"/>
          <p:nvPr/>
        </p:nvSpPr>
        <p:spPr>
          <a:xfrm>
            <a:off x="542544" y="1534379"/>
            <a:ext cx="8004586" cy="189462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Climate information must be accessible and understandable</a:t>
            </a:r>
          </a:p>
          <a:p>
            <a:pPr marL="285750" indent="-285750">
              <a:lnSpc>
                <a:spcPct val="150000"/>
              </a:lnSpc>
              <a:buFont typeface="Arial" panose="020B0604020202020204" pitchFamily="34" charset="0"/>
              <a:buChar char="•"/>
            </a:pPr>
            <a:r>
              <a:rPr lang="en-US" sz="2000" dirty="0"/>
              <a:t>Structured knowledge empowers informed decision making</a:t>
            </a:r>
          </a:p>
          <a:p>
            <a:pPr marL="285750" indent="-285750">
              <a:lnSpc>
                <a:spcPct val="150000"/>
              </a:lnSpc>
              <a:buFont typeface="Arial" panose="020B0604020202020204" pitchFamily="34" charset="0"/>
              <a:buChar char="•"/>
            </a:pPr>
            <a:r>
              <a:rPr lang="en-US" sz="2000" dirty="0"/>
              <a:t>Educated youth can become “Youth Knowledge Champions”</a:t>
            </a:r>
          </a:p>
          <a:p>
            <a:pPr marL="285750" indent="-285750">
              <a:lnSpc>
                <a:spcPct val="150000"/>
              </a:lnSpc>
              <a:buFont typeface="Arial" panose="020B0604020202020204" pitchFamily="34" charset="0"/>
              <a:buChar char="•"/>
            </a:pPr>
            <a:r>
              <a:rPr lang="en-US" sz="2000" dirty="0"/>
              <a:t>Climate action requires knowledge that reaches every citizen</a:t>
            </a:r>
          </a:p>
        </p:txBody>
      </p:sp>
      <p:pic>
        <p:nvPicPr>
          <p:cNvPr id="3" name="Picture 2">
            <a:extLst>
              <a:ext uri="{FF2B5EF4-FFF2-40B4-BE49-F238E27FC236}">
                <a16:creationId xmlns:a16="http://schemas.microsoft.com/office/drawing/2014/main" id="{FC3A195A-7B5A-552B-6D6B-A7B4975DC868}"/>
              </a:ext>
            </a:extLst>
          </p:cNvPr>
          <p:cNvPicPr>
            <a:picLocks noChangeAspect="1"/>
          </p:cNvPicPr>
          <p:nvPr/>
        </p:nvPicPr>
        <p:blipFill>
          <a:blip r:embed="rId3"/>
          <a:stretch>
            <a:fillRect/>
          </a:stretch>
        </p:blipFill>
        <p:spPr>
          <a:xfrm>
            <a:off x="8052058" y="1049967"/>
            <a:ext cx="3227827" cy="2951327"/>
          </a:xfrm>
          <a:prstGeom prst="rect">
            <a:avLst/>
          </a:prstGeom>
        </p:spPr>
      </p:pic>
      <p:pic>
        <p:nvPicPr>
          <p:cNvPr id="5" name="Picture 4">
            <a:extLst>
              <a:ext uri="{FF2B5EF4-FFF2-40B4-BE49-F238E27FC236}">
                <a16:creationId xmlns:a16="http://schemas.microsoft.com/office/drawing/2014/main" id="{AF68105E-59E4-B04B-624F-82C4F05B516F}"/>
              </a:ext>
            </a:extLst>
          </p:cNvPr>
          <p:cNvPicPr>
            <a:picLocks noChangeAspect="1"/>
          </p:cNvPicPr>
          <p:nvPr/>
        </p:nvPicPr>
        <p:blipFill>
          <a:blip r:embed="rId4"/>
          <a:stretch>
            <a:fillRect/>
          </a:stretch>
        </p:blipFill>
        <p:spPr>
          <a:xfrm>
            <a:off x="4521322" y="3639835"/>
            <a:ext cx="3456822" cy="2672065"/>
          </a:xfrm>
          <a:prstGeom prst="rect">
            <a:avLst/>
          </a:prstGeom>
        </p:spPr>
      </p:pic>
    </p:spTree>
    <p:extLst>
      <p:ext uri="{BB962C8B-B14F-4D97-AF65-F5344CB8AC3E}">
        <p14:creationId xmlns:p14="http://schemas.microsoft.com/office/powerpoint/2010/main" val="1327975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FA191-6022-26B0-7788-102EC8ABA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CF176-6679-2D34-9EFE-B196C6366BF8}"/>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5C2AF2DA-7F58-36F9-10BE-3C67C40DBA5C}"/>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D9DFED93-E876-27C1-ED66-A90183B50691}"/>
              </a:ext>
            </a:extLst>
          </p:cNvPr>
          <p:cNvSpPr txBox="1"/>
          <p:nvPr/>
        </p:nvSpPr>
        <p:spPr>
          <a:xfrm>
            <a:off x="1729247" y="492760"/>
            <a:ext cx="8256046" cy="707886"/>
          </a:xfrm>
          <a:prstGeom prst="rect">
            <a:avLst/>
          </a:prstGeom>
          <a:noFill/>
        </p:spPr>
        <p:txBody>
          <a:bodyPr wrap="square">
            <a:spAutoFit/>
          </a:bodyPr>
          <a:lstStyle/>
          <a:p>
            <a:pPr algn="ctr"/>
            <a:r>
              <a:rPr lang="en-US" sz="4000" b="1" dirty="0">
                <a:latin typeface="Helvetica Neue" panose="02000503000000020004" pitchFamily="2" charset="0"/>
                <a:ea typeface="Helvetica Neue" panose="02000503000000020004" pitchFamily="2" charset="0"/>
                <a:cs typeface="Helvetica Neue" panose="02000503000000020004" pitchFamily="2" charset="0"/>
              </a:rPr>
              <a:t>The #semantic</a:t>
            </a:r>
            <a:r>
              <a:rPr lang="en-US" sz="4000" b="1" i="1" dirty="0">
                <a:latin typeface="Helvetica Neue" panose="02000503000000020004" pitchFamily="2" charset="0"/>
                <a:ea typeface="Helvetica Neue" panose="02000503000000020004" pitchFamily="2" charset="0"/>
                <a:cs typeface="Helvetica Neue" panose="02000503000000020004" pitchFamily="2" charset="0"/>
              </a:rPr>
              <a:t>Climate</a:t>
            </a:r>
            <a:r>
              <a:rPr lang="en-US" sz="4000" b="1" dirty="0">
                <a:latin typeface="Helvetica Neue" panose="02000503000000020004" pitchFamily="2" charset="0"/>
                <a:ea typeface="Helvetica Neue" panose="02000503000000020004" pitchFamily="2" charset="0"/>
                <a:cs typeface="Helvetica Neue" panose="02000503000000020004" pitchFamily="2" charset="0"/>
              </a:rPr>
              <a:t> Vision</a:t>
            </a:r>
            <a:endParaRPr lang="en-US" sz="40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1" name="Picture 2">
            <a:extLst>
              <a:ext uri="{FF2B5EF4-FFF2-40B4-BE49-F238E27FC236}">
                <a16:creationId xmlns:a16="http://schemas.microsoft.com/office/drawing/2014/main" id="{231BEB11-8852-C9C0-24A3-0132C6AA15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6E3AF9DD-6488-BEEE-EB7D-840C8D050C57}"/>
              </a:ext>
            </a:extLst>
          </p:cNvPr>
          <p:cNvSpPr txBox="1"/>
          <p:nvPr/>
        </p:nvSpPr>
        <p:spPr>
          <a:xfrm>
            <a:off x="1854977" y="1555894"/>
            <a:ext cx="8004586" cy="4572277"/>
          </a:xfrm>
          <a:prstGeom prst="rect">
            <a:avLst/>
          </a:prstGeom>
          <a:noFill/>
        </p:spPr>
        <p:txBody>
          <a:bodyPr wrap="square" rtlCol="0">
            <a:spAutoFit/>
          </a:bodyPr>
          <a:lstStyle/>
          <a:p>
            <a:pPr algn="ctr"/>
            <a:r>
              <a:rPr lang="en-US" sz="2400" dirty="0"/>
              <a:t>#semantic</a:t>
            </a:r>
            <a:r>
              <a:rPr lang="en-US" sz="2400" i="1" dirty="0"/>
              <a:t>Climate</a:t>
            </a:r>
            <a:r>
              <a:rPr lang="en-US" sz="2400" dirty="0"/>
              <a:t> focuses on semantifying climate data and resources to make climate knowledge open, machine readable, and actionable.</a:t>
            </a:r>
          </a:p>
          <a:p>
            <a:pPr algn="ctr"/>
            <a:br>
              <a:rPr lang="en-US" sz="2400" dirty="0"/>
            </a:br>
            <a:endParaRPr lang="en-US" sz="2400" dirty="0"/>
          </a:p>
          <a:p>
            <a:pPr algn="ctr"/>
            <a:r>
              <a:rPr lang="en-US" sz="2400" dirty="0"/>
              <a:t>Our goal is to help scientists, policymakers, and communities respond more effectively to climate change.</a:t>
            </a:r>
          </a:p>
          <a:p>
            <a:pPr algn="ctr"/>
            <a:br>
              <a:rPr lang="en-US" sz="2400" dirty="0"/>
            </a:br>
            <a:endParaRPr lang="en-US" sz="2400" dirty="0"/>
          </a:p>
          <a:p>
            <a:pPr algn="ctr"/>
            <a:r>
              <a:rPr lang="en-US" sz="2400" dirty="0"/>
              <a:t>More importantly, we aim to create Youth Knowledge Champions who can carry climate action forward globally.</a:t>
            </a:r>
          </a:p>
          <a:p>
            <a:pPr>
              <a:lnSpc>
                <a:spcPct val="150000"/>
              </a:lnSpc>
            </a:pPr>
            <a:endParaRPr lang="en-US" sz="2000" dirty="0"/>
          </a:p>
        </p:txBody>
      </p:sp>
    </p:spTree>
    <p:extLst>
      <p:ext uri="{BB962C8B-B14F-4D97-AF65-F5344CB8AC3E}">
        <p14:creationId xmlns:p14="http://schemas.microsoft.com/office/powerpoint/2010/main" val="4253716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FA3F8-C51B-B44D-7879-EC50BAF85F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C1E31-057E-90EE-3538-8B8E3BC8BC79}"/>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83AB5949-F7F0-B58B-7D05-33150727A305}"/>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A38195D0-A50A-6183-DCEB-DD7614D5E288}"/>
              </a:ext>
            </a:extLst>
          </p:cNvPr>
          <p:cNvSpPr txBox="1"/>
          <p:nvPr/>
        </p:nvSpPr>
        <p:spPr>
          <a:xfrm>
            <a:off x="838200" y="492760"/>
            <a:ext cx="9427590" cy="584775"/>
          </a:xfrm>
          <a:prstGeom prst="rect">
            <a:avLst/>
          </a:prstGeom>
          <a:noFill/>
        </p:spPr>
        <p:txBody>
          <a:bodyPr wrap="square">
            <a:spAutoFit/>
          </a:bodyPr>
          <a:lstStyle/>
          <a:p>
            <a:r>
              <a:rPr lang="en-US" sz="3200" b="1" dirty="0">
                <a:latin typeface="Helvetica Neue" panose="02000503000000020004" pitchFamily="2" charset="0"/>
                <a:ea typeface="Helvetica Neue" panose="02000503000000020004" pitchFamily="2" charset="0"/>
                <a:cs typeface="Helvetica Neue" panose="02000503000000020004" pitchFamily="2" charset="0"/>
              </a:rPr>
              <a:t>Powered by Interns from Diverse Backgrounds</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1" name="Picture 2">
            <a:extLst>
              <a:ext uri="{FF2B5EF4-FFF2-40B4-BE49-F238E27FC236}">
                <a16:creationId xmlns:a16="http://schemas.microsoft.com/office/drawing/2014/main" id="{168CD424-BE0A-A85D-4139-7471C0452E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97D80A5-B4DF-65A2-BC45-B409DF6C0DDB}"/>
              </a:ext>
            </a:extLst>
          </p:cNvPr>
          <p:cNvSpPr txBox="1"/>
          <p:nvPr/>
        </p:nvSpPr>
        <p:spPr>
          <a:xfrm>
            <a:off x="542544" y="1240850"/>
            <a:ext cx="8441200" cy="3170099"/>
          </a:xfrm>
          <a:prstGeom prst="rect">
            <a:avLst/>
          </a:prstGeom>
          <a:noFill/>
        </p:spPr>
        <p:txBody>
          <a:bodyPr wrap="square" rtlCol="0">
            <a:spAutoFit/>
          </a:bodyPr>
          <a:lstStyle/>
          <a:p>
            <a:pPr marL="285750" indent="-285750">
              <a:buFont typeface="Arial" panose="020B0604020202020204" pitchFamily="34" charset="0"/>
              <a:buChar char="•"/>
            </a:pPr>
            <a:r>
              <a:rPr lang="en-US" sz="2000" dirty="0"/>
              <a:t>A fully online team driven by rotating intern cohorts every 2 to 6 months</a:t>
            </a:r>
          </a:p>
          <a:p>
            <a:pPr marL="285750" indent="-285750">
              <a:buFont typeface="Arial" panose="020B0604020202020204" pitchFamily="34" charset="0"/>
              <a:buChar char="•"/>
            </a:pPr>
            <a:r>
              <a:rPr lang="en-US" sz="2000" dirty="0"/>
              <a:t>Interns join from different academic, technical, and disciplinary backgrounds</a:t>
            </a:r>
          </a:p>
          <a:p>
            <a:pPr marL="285750" indent="-285750">
              <a:buFont typeface="Arial" panose="020B0604020202020204" pitchFamily="34" charset="0"/>
              <a:buChar char="•"/>
            </a:pPr>
            <a:r>
              <a:rPr lang="en-US" sz="2000" dirty="0"/>
              <a:t>Some start with no Python experience, others bring strong technical expertise</a:t>
            </a:r>
          </a:p>
          <a:p>
            <a:pPr marL="285750" indent="-285750">
              <a:buFont typeface="Arial" panose="020B0604020202020204" pitchFamily="34" charset="0"/>
              <a:buChar char="•"/>
            </a:pPr>
            <a:r>
              <a:rPr lang="en-US" sz="2000" dirty="0"/>
              <a:t>A collaborative, communal learning culture where members actively support one another</a:t>
            </a:r>
          </a:p>
          <a:p>
            <a:pPr marL="285750" indent="-285750">
              <a:buFont typeface="Arial" panose="020B0604020202020204" pitchFamily="34" charset="0"/>
              <a:buChar char="•"/>
            </a:pPr>
            <a:r>
              <a:rPr lang="en-US" sz="2000" dirty="0"/>
              <a:t>Regular Zoom sessions, Slack coordination, and daily GitHub commits</a:t>
            </a:r>
          </a:p>
          <a:p>
            <a:pPr marL="285750" indent="-285750">
              <a:buFont typeface="Arial" panose="020B0604020202020204" pitchFamily="34" charset="0"/>
              <a:buChar char="•"/>
            </a:pPr>
            <a:r>
              <a:rPr lang="en-US" sz="2000" dirty="0"/>
              <a:t>Work openly under the ONS philosophy: commit immediately, no insider knowledge</a:t>
            </a:r>
          </a:p>
        </p:txBody>
      </p:sp>
      <p:pic>
        <p:nvPicPr>
          <p:cNvPr id="4" name="Picture 3">
            <a:extLst>
              <a:ext uri="{FF2B5EF4-FFF2-40B4-BE49-F238E27FC236}">
                <a16:creationId xmlns:a16="http://schemas.microsoft.com/office/drawing/2014/main" id="{08CC4A33-505B-E44F-FA12-527F7AF1A8E1}"/>
              </a:ext>
            </a:extLst>
          </p:cNvPr>
          <p:cNvPicPr>
            <a:picLocks noChangeAspect="1"/>
          </p:cNvPicPr>
          <p:nvPr/>
        </p:nvPicPr>
        <p:blipFill>
          <a:blip r:embed="rId3"/>
          <a:stretch>
            <a:fillRect/>
          </a:stretch>
        </p:blipFill>
        <p:spPr>
          <a:xfrm>
            <a:off x="8829565" y="1417213"/>
            <a:ext cx="3052529" cy="2338984"/>
          </a:xfrm>
          <a:prstGeom prst="rect">
            <a:avLst/>
          </a:prstGeom>
        </p:spPr>
      </p:pic>
      <p:sp>
        <p:nvSpPr>
          <p:cNvPr id="7" name="TextBox 6">
            <a:extLst>
              <a:ext uri="{FF2B5EF4-FFF2-40B4-BE49-F238E27FC236}">
                <a16:creationId xmlns:a16="http://schemas.microsoft.com/office/drawing/2014/main" id="{D769E1EF-8019-0E47-FACB-AE5C9CC4CB43}"/>
              </a:ext>
            </a:extLst>
          </p:cNvPr>
          <p:cNvSpPr txBox="1"/>
          <p:nvPr/>
        </p:nvSpPr>
        <p:spPr>
          <a:xfrm>
            <a:off x="838200" y="4550572"/>
            <a:ext cx="9427590" cy="400110"/>
          </a:xfrm>
          <a:prstGeom prst="rect">
            <a:avLst/>
          </a:prstGeom>
          <a:noFill/>
        </p:spPr>
        <p:txBody>
          <a:bodyPr wrap="square">
            <a:spAutoFit/>
          </a:bodyPr>
          <a:lstStyle/>
          <a:p>
            <a:r>
              <a:rPr lang="en-US" sz="2000" b="1" dirty="0">
                <a:latin typeface="Helvetica Neue" panose="02000503000000020004" pitchFamily="2" charset="0"/>
                <a:ea typeface="Helvetica Neue" panose="02000503000000020004" pitchFamily="2" charset="0"/>
                <a:cs typeface="Helvetica Neue" panose="02000503000000020004" pitchFamily="2" charset="0"/>
              </a:rPr>
              <a:t>What Drives Us</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TextBox 7">
            <a:extLst>
              <a:ext uri="{FF2B5EF4-FFF2-40B4-BE49-F238E27FC236}">
                <a16:creationId xmlns:a16="http://schemas.microsoft.com/office/drawing/2014/main" id="{D1CAB215-73C4-CB18-7105-D1F06A7233BB}"/>
              </a:ext>
            </a:extLst>
          </p:cNvPr>
          <p:cNvSpPr txBox="1"/>
          <p:nvPr/>
        </p:nvSpPr>
        <p:spPr>
          <a:xfrm>
            <a:off x="542544" y="4995724"/>
            <a:ext cx="8441200" cy="707886"/>
          </a:xfrm>
          <a:prstGeom prst="rect">
            <a:avLst/>
          </a:prstGeom>
          <a:noFill/>
        </p:spPr>
        <p:txBody>
          <a:bodyPr wrap="square" rtlCol="0">
            <a:spAutoFit/>
          </a:bodyPr>
          <a:lstStyle/>
          <a:p>
            <a:pPr marL="285750" indent="-285750">
              <a:buFont typeface="Arial" panose="020B0604020202020204" pitchFamily="34" charset="0"/>
              <a:buChar char="•"/>
            </a:pPr>
            <a:r>
              <a:rPr lang="en-US" sz="2000" dirty="0"/>
              <a:t>Make climate knowledge accessible to as many people as possible</a:t>
            </a:r>
          </a:p>
          <a:p>
            <a:pPr marL="285750" indent="-285750">
              <a:buFont typeface="Arial" panose="020B0604020202020204" pitchFamily="34" charset="0"/>
              <a:buChar char="•"/>
            </a:pPr>
            <a:r>
              <a:rPr lang="en-US" sz="2000" dirty="0"/>
              <a:t>Demonstrate how the semantic approach works in practice</a:t>
            </a:r>
          </a:p>
        </p:txBody>
      </p:sp>
    </p:spTree>
    <p:extLst>
      <p:ext uri="{BB962C8B-B14F-4D97-AF65-F5344CB8AC3E}">
        <p14:creationId xmlns:p14="http://schemas.microsoft.com/office/powerpoint/2010/main" val="3521088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A64A6-1EB8-516A-0FE4-C82A5BC83D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02FF6-B46D-BDF6-2AB6-3A310EEA03A7}"/>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351CBE85-3595-5B5E-FC07-F3369437B86B}"/>
              </a:ext>
            </a:extLst>
          </p:cNvPr>
          <p:cNvSpPr>
            <a:spLocks noGrp="1"/>
          </p:cNvSpPr>
          <p:nvPr>
            <p:ph idx="1"/>
          </p:nvPr>
        </p:nvSpPr>
        <p:spPr/>
        <p:txBody>
          <a:bodyPr/>
          <a:lstStyle/>
          <a:p>
            <a:pPr marL="0" indent="0">
              <a:buNone/>
            </a:pPr>
            <a:r>
              <a:rPr lang="en-US" dirty="0"/>
              <a:t> </a:t>
            </a:r>
          </a:p>
        </p:txBody>
      </p:sp>
      <p:pic>
        <p:nvPicPr>
          <p:cNvPr id="11" name="Picture 2">
            <a:extLst>
              <a:ext uri="{FF2B5EF4-FFF2-40B4-BE49-F238E27FC236}">
                <a16:creationId xmlns:a16="http://schemas.microsoft.com/office/drawing/2014/main" id="{5172B5A0-2103-E9B1-1EFC-D65ABD2738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DB06624-49B9-B66B-AFF6-7DC9E9D6C8B2}"/>
              </a:ext>
            </a:extLst>
          </p:cNvPr>
          <p:cNvPicPr>
            <a:picLocks noChangeAspect="1"/>
          </p:cNvPicPr>
          <p:nvPr/>
        </p:nvPicPr>
        <p:blipFill>
          <a:blip r:embed="rId3"/>
          <a:stretch>
            <a:fillRect/>
          </a:stretch>
        </p:blipFill>
        <p:spPr>
          <a:xfrm>
            <a:off x="458639" y="492760"/>
            <a:ext cx="11274722" cy="5200698"/>
          </a:xfrm>
          <a:prstGeom prst="rect">
            <a:avLst/>
          </a:prstGeom>
        </p:spPr>
      </p:pic>
      <p:sp>
        <p:nvSpPr>
          <p:cNvPr id="8" name="TextBox 7">
            <a:extLst>
              <a:ext uri="{FF2B5EF4-FFF2-40B4-BE49-F238E27FC236}">
                <a16:creationId xmlns:a16="http://schemas.microsoft.com/office/drawing/2014/main" id="{1C791759-33E0-E924-DEB2-F71DBBA7E225}"/>
              </a:ext>
            </a:extLst>
          </p:cNvPr>
          <p:cNvSpPr txBox="1"/>
          <p:nvPr/>
        </p:nvSpPr>
        <p:spPr>
          <a:xfrm>
            <a:off x="3046476" y="5788680"/>
            <a:ext cx="6099048" cy="523220"/>
          </a:xfrm>
          <a:prstGeom prst="rect">
            <a:avLst/>
          </a:prstGeom>
          <a:noFill/>
        </p:spPr>
        <p:txBody>
          <a:bodyPr wrap="square">
            <a:spAutoFit/>
          </a:bodyPr>
          <a:lstStyle/>
          <a:p>
            <a:pPr algn="ctr"/>
            <a:r>
              <a:rPr lang="en-US" sz="2800" b="1" dirty="0">
                <a:latin typeface="Helvetica Neue" panose="02000503000000020004" pitchFamily="2" charset="0"/>
                <a:ea typeface="Helvetica Neue" panose="02000503000000020004" pitchFamily="2" charset="0"/>
                <a:cs typeface="Helvetica Neue" panose="02000503000000020004" pitchFamily="2" charset="0"/>
              </a:rPr>
              <a:t>Project Workflow</a:t>
            </a:r>
          </a:p>
        </p:txBody>
      </p:sp>
    </p:spTree>
    <p:extLst>
      <p:ext uri="{BB962C8B-B14F-4D97-AF65-F5344CB8AC3E}">
        <p14:creationId xmlns:p14="http://schemas.microsoft.com/office/powerpoint/2010/main" val="2051306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77596-FF75-C970-3482-3FA0992B0F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2DEB2A-BE0C-9C97-4197-310B77B9C8C6}"/>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430D0542-004A-E820-47F8-BA2E6D1553EF}"/>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18705FF1-E873-2187-CA7D-91AC6F7CC655}"/>
              </a:ext>
            </a:extLst>
          </p:cNvPr>
          <p:cNvSpPr txBox="1"/>
          <p:nvPr/>
        </p:nvSpPr>
        <p:spPr>
          <a:xfrm>
            <a:off x="952500" y="246380"/>
            <a:ext cx="7071396" cy="523220"/>
          </a:xfrm>
          <a:prstGeom prst="rect">
            <a:avLst/>
          </a:prstGeom>
          <a:noFill/>
        </p:spPr>
        <p:txBody>
          <a:bodyPr wrap="square">
            <a:spAutoFit/>
          </a:body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pygetpapers</a:t>
            </a:r>
            <a:endParaRPr lang="en-US" sz="28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1" name="Picture 2">
            <a:extLst>
              <a:ext uri="{FF2B5EF4-FFF2-40B4-BE49-F238E27FC236}">
                <a16:creationId xmlns:a16="http://schemas.microsoft.com/office/drawing/2014/main" id="{3380A985-F481-1CE8-2104-B0E8B9AF33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21E5E73-8F47-FF7E-07A0-A73D97E31A49}"/>
              </a:ext>
            </a:extLst>
          </p:cNvPr>
          <p:cNvSpPr txBox="1"/>
          <p:nvPr/>
        </p:nvSpPr>
        <p:spPr>
          <a:xfrm>
            <a:off x="1326490" y="854664"/>
            <a:ext cx="3663054" cy="400110"/>
          </a:xfrm>
          <a:prstGeom prst="rect">
            <a:avLst/>
          </a:prstGeom>
          <a:noFill/>
        </p:spPr>
        <p:txBody>
          <a:bodyPr wrap="none" rtlCol="0">
            <a:spAutoFit/>
          </a:bodyPr>
          <a:lstStyle/>
          <a:p>
            <a:r>
              <a:rPr lang="en-US" sz="2000" dirty="0"/>
              <a:t>Managed by: </a:t>
            </a:r>
            <a:r>
              <a:rPr lang="en-US" sz="2000" i="1" dirty="0"/>
              <a:t>Vaishnavi Sharma </a:t>
            </a:r>
          </a:p>
        </p:txBody>
      </p:sp>
      <p:sp>
        <p:nvSpPr>
          <p:cNvPr id="7" name="TextBox 6">
            <a:extLst>
              <a:ext uri="{FF2B5EF4-FFF2-40B4-BE49-F238E27FC236}">
                <a16:creationId xmlns:a16="http://schemas.microsoft.com/office/drawing/2014/main" id="{F6DDA013-C761-488F-99A1-88C8C2DA2CFB}"/>
              </a:ext>
            </a:extLst>
          </p:cNvPr>
          <p:cNvSpPr txBox="1"/>
          <p:nvPr/>
        </p:nvSpPr>
        <p:spPr>
          <a:xfrm>
            <a:off x="838200" y="1513219"/>
            <a:ext cx="9093200" cy="923330"/>
          </a:xfrm>
          <a:prstGeom prst="rect">
            <a:avLst/>
          </a:prstGeom>
          <a:noFill/>
        </p:spPr>
        <p:txBody>
          <a:bodyPr wrap="square" rtlCol="0">
            <a:spAutoFit/>
          </a:bodyPr>
          <a:lstStyle/>
          <a:p>
            <a:r>
              <a:rPr lang="en-US" dirty="0"/>
              <a:t>pygetpapers is a Python based literature mining tool for automated search and download of research papers. In our workflow, it serves as the entry point for retrieving structured research data from multiple open access sources.</a:t>
            </a:r>
          </a:p>
        </p:txBody>
      </p:sp>
      <p:pic>
        <p:nvPicPr>
          <p:cNvPr id="8" name="Picture 7">
            <a:extLst>
              <a:ext uri="{FF2B5EF4-FFF2-40B4-BE49-F238E27FC236}">
                <a16:creationId xmlns:a16="http://schemas.microsoft.com/office/drawing/2014/main" id="{08795ACA-0CD7-6557-E89B-69B9BB6B22F1}"/>
              </a:ext>
            </a:extLst>
          </p:cNvPr>
          <p:cNvPicPr>
            <a:picLocks noChangeAspect="1"/>
          </p:cNvPicPr>
          <p:nvPr/>
        </p:nvPicPr>
        <p:blipFill>
          <a:blip r:embed="rId3"/>
          <a:stretch>
            <a:fillRect/>
          </a:stretch>
        </p:blipFill>
        <p:spPr>
          <a:xfrm>
            <a:off x="952500" y="840238"/>
            <a:ext cx="398676" cy="400110"/>
          </a:xfrm>
          <a:prstGeom prst="rect">
            <a:avLst/>
          </a:prstGeom>
        </p:spPr>
      </p:pic>
      <p:pic>
        <p:nvPicPr>
          <p:cNvPr id="9" name="Picture 8">
            <a:extLst>
              <a:ext uri="{FF2B5EF4-FFF2-40B4-BE49-F238E27FC236}">
                <a16:creationId xmlns:a16="http://schemas.microsoft.com/office/drawing/2014/main" id="{BE8537F7-0A3A-EDFB-21C3-B373CE7605F6}"/>
              </a:ext>
            </a:extLst>
          </p:cNvPr>
          <p:cNvPicPr>
            <a:picLocks noChangeAspect="1"/>
          </p:cNvPicPr>
          <p:nvPr/>
        </p:nvPicPr>
        <p:blipFill>
          <a:blip r:embed="rId4"/>
          <a:stretch>
            <a:fillRect/>
          </a:stretch>
        </p:blipFill>
        <p:spPr>
          <a:xfrm>
            <a:off x="838200" y="4196832"/>
            <a:ext cx="7541599" cy="1887390"/>
          </a:xfrm>
          <a:prstGeom prst="rect">
            <a:avLst/>
          </a:prstGeom>
        </p:spPr>
      </p:pic>
      <p:sp>
        <p:nvSpPr>
          <p:cNvPr id="12" name="TextBox 11">
            <a:extLst>
              <a:ext uri="{FF2B5EF4-FFF2-40B4-BE49-F238E27FC236}">
                <a16:creationId xmlns:a16="http://schemas.microsoft.com/office/drawing/2014/main" id="{BE08B398-E24E-41DD-B5A5-0DAE046683F8}"/>
              </a:ext>
            </a:extLst>
          </p:cNvPr>
          <p:cNvSpPr txBox="1"/>
          <p:nvPr/>
        </p:nvSpPr>
        <p:spPr>
          <a:xfrm>
            <a:off x="838200" y="2626763"/>
            <a:ext cx="7835478" cy="1477328"/>
          </a:xfrm>
          <a:prstGeom prst="rect">
            <a:avLst/>
          </a:prstGeom>
          <a:noFill/>
        </p:spPr>
        <p:txBody>
          <a:bodyPr wrap="none" rtlCol="0">
            <a:spAutoFit/>
          </a:bodyPr>
          <a:lstStyle/>
          <a:p>
            <a:r>
              <a:rPr lang="en-US" b="1" dirty="0"/>
              <a:t>How our team utilizes pygetpapers:</a:t>
            </a:r>
          </a:p>
          <a:p>
            <a:pPr marL="285750" indent="-285750">
              <a:buFont typeface="Arial" panose="020B0604020202020204" pitchFamily="34" charset="0"/>
              <a:buChar char="•"/>
            </a:pPr>
            <a:r>
              <a:rPr lang="en-US" dirty="0"/>
              <a:t>Querying APIs such as Europe PMC and related repositories</a:t>
            </a:r>
          </a:p>
          <a:p>
            <a:pPr marL="285750" indent="-285750">
              <a:buFont typeface="Arial" panose="020B0604020202020204" pitchFamily="34" charset="0"/>
              <a:buChar char="•"/>
            </a:pPr>
            <a:r>
              <a:rPr lang="en-US" dirty="0"/>
              <a:t>Automating large scale literature search and download</a:t>
            </a:r>
          </a:p>
          <a:p>
            <a:pPr marL="285750" indent="-285750">
              <a:buFont typeface="Arial" panose="020B0604020202020204" pitchFamily="34" charset="0"/>
              <a:buChar char="•"/>
            </a:pPr>
            <a:r>
              <a:rPr lang="en-US" dirty="0"/>
              <a:t>Creating structured </a:t>
            </a:r>
            <a:r>
              <a:rPr lang="en-US" dirty="0" err="1"/>
              <a:t>CProject</a:t>
            </a:r>
            <a:r>
              <a:rPr lang="en-US" dirty="0"/>
              <a:t> outputs including XML, JSON, PDF, and HTML</a:t>
            </a:r>
          </a:p>
          <a:p>
            <a:pPr marL="285750" indent="-285750">
              <a:buFont typeface="Arial" panose="020B0604020202020204" pitchFamily="34" charset="0"/>
              <a:buChar char="•"/>
            </a:pPr>
            <a:r>
              <a:rPr lang="en-US" dirty="0"/>
              <a:t>Feeding downloaded documents into the semantic corpus layer</a:t>
            </a:r>
          </a:p>
        </p:txBody>
      </p:sp>
    </p:spTree>
    <p:extLst>
      <p:ext uri="{BB962C8B-B14F-4D97-AF65-F5344CB8AC3E}">
        <p14:creationId xmlns:p14="http://schemas.microsoft.com/office/powerpoint/2010/main" val="1398942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81759-FDD1-E9E0-55E9-81BD8AA9A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E4CA07-7E8E-5B60-64F9-247109E21539}"/>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833756F3-8A87-5A10-DF9C-9F560D0EECAC}"/>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E26C3E73-DFD1-5FB0-6F2D-3832900E1BD8}"/>
              </a:ext>
            </a:extLst>
          </p:cNvPr>
          <p:cNvSpPr txBox="1"/>
          <p:nvPr/>
        </p:nvSpPr>
        <p:spPr>
          <a:xfrm>
            <a:off x="952500" y="246380"/>
            <a:ext cx="7071396" cy="523220"/>
          </a:xfrm>
          <a:prstGeom prst="rect">
            <a:avLst/>
          </a:prstGeom>
          <a:noFill/>
        </p:spPr>
        <p:txBody>
          <a:bodyPr wrap="square">
            <a:spAutoFit/>
          </a:body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semantic_corpus</a:t>
            </a:r>
          </a:p>
        </p:txBody>
      </p:sp>
      <p:pic>
        <p:nvPicPr>
          <p:cNvPr id="11" name="Picture 2">
            <a:extLst>
              <a:ext uri="{FF2B5EF4-FFF2-40B4-BE49-F238E27FC236}">
                <a16:creationId xmlns:a16="http://schemas.microsoft.com/office/drawing/2014/main" id="{19E1EC9B-7E78-08AA-5229-AD251101A2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3DAA996-0756-F1F8-B035-BEADBD5EDE40}"/>
              </a:ext>
            </a:extLst>
          </p:cNvPr>
          <p:cNvSpPr txBox="1"/>
          <p:nvPr/>
        </p:nvSpPr>
        <p:spPr>
          <a:xfrm>
            <a:off x="1326490" y="854664"/>
            <a:ext cx="4115999" cy="400110"/>
          </a:xfrm>
          <a:prstGeom prst="rect">
            <a:avLst/>
          </a:prstGeom>
          <a:noFill/>
        </p:spPr>
        <p:txBody>
          <a:bodyPr wrap="none" rtlCol="0">
            <a:spAutoFit/>
          </a:bodyPr>
          <a:lstStyle/>
          <a:p>
            <a:r>
              <a:rPr lang="en-US" sz="2000" dirty="0"/>
              <a:t>Managed by: </a:t>
            </a:r>
            <a:r>
              <a:rPr lang="en-US" sz="2000" i="1" dirty="0"/>
              <a:t>Gulam Ajdhani &amp; team</a:t>
            </a:r>
          </a:p>
        </p:txBody>
      </p:sp>
      <p:sp>
        <p:nvSpPr>
          <p:cNvPr id="7" name="TextBox 6">
            <a:extLst>
              <a:ext uri="{FF2B5EF4-FFF2-40B4-BE49-F238E27FC236}">
                <a16:creationId xmlns:a16="http://schemas.microsoft.com/office/drawing/2014/main" id="{345A842D-57DB-0EF4-528A-A69010A6B41D}"/>
              </a:ext>
            </a:extLst>
          </p:cNvPr>
          <p:cNvSpPr txBox="1"/>
          <p:nvPr/>
        </p:nvSpPr>
        <p:spPr>
          <a:xfrm>
            <a:off x="838200" y="1513219"/>
            <a:ext cx="9093200" cy="923330"/>
          </a:xfrm>
          <a:prstGeom prst="rect">
            <a:avLst/>
          </a:prstGeom>
          <a:noFill/>
        </p:spPr>
        <p:txBody>
          <a:bodyPr wrap="square" rtlCol="0">
            <a:spAutoFit/>
          </a:bodyPr>
          <a:lstStyle/>
          <a:p>
            <a:r>
              <a:rPr lang="en-US" dirty="0"/>
              <a:t>Semantic corpus is a structured document management layer that organizes research content into searchable and analyzable collections. In our workflow, it prepares ingested documents for systematic semantic processing.</a:t>
            </a:r>
          </a:p>
        </p:txBody>
      </p:sp>
      <p:pic>
        <p:nvPicPr>
          <p:cNvPr id="8" name="Picture 7">
            <a:extLst>
              <a:ext uri="{FF2B5EF4-FFF2-40B4-BE49-F238E27FC236}">
                <a16:creationId xmlns:a16="http://schemas.microsoft.com/office/drawing/2014/main" id="{2F6BA5B2-9B11-E80E-898E-B4C53BCF2B06}"/>
              </a:ext>
            </a:extLst>
          </p:cNvPr>
          <p:cNvPicPr>
            <a:picLocks noChangeAspect="1"/>
          </p:cNvPicPr>
          <p:nvPr/>
        </p:nvPicPr>
        <p:blipFill>
          <a:blip r:embed="rId3"/>
          <a:srcRect/>
          <a:stretch/>
        </p:blipFill>
        <p:spPr>
          <a:xfrm>
            <a:off x="952500" y="840598"/>
            <a:ext cx="398676" cy="399390"/>
          </a:xfrm>
          <a:prstGeom prst="rect">
            <a:avLst/>
          </a:prstGeom>
        </p:spPr>
      </p:pic>
      <p:sp>
        <p:nvSpPr>
          <p:cNvPr id="12" name="TextBox 11">
            <a:extLst>
              <a:ext uri="{FF2B5EF4-FFF2-40B4-BE49-F238E27FC236}">
                <a16:creationId xmlns:a16="http://schemas.microsoft.com/office/drawing/2014/main" id="{40644101-9279-8AF5-F67E-997794DE3C72}"/>
              </a:ext>
            </a:extLst>
          </p:cNvPr>
          <p:cNvSpPr txBox="1"/>
          <p:nvPr/>
        </p:nvSpPr>
        <p:spPr>
          <a:xfrm>
            <a:off x="838200" y="2626763"/>
            <a:ext cx="6743449" cy="1477328"/>
          </a:xfrm>
          <a:prstGeom prst="rect">
            <a:avLst/>
          </a:prstGeom>
          <a:noFill/>
        </p:spPr>
        <p:txBody>
          <a:bodyPr wrap="none" rtlCol="0">
            <a:spAutoFit/>
          </a:bodyPr>
          <a:lstStyle/>
          <a:p>
            <a:r>
              <a:rPr lang="en-US" b="1" dirty="0"/>
              <a:t>How our team utilizes semantic_corpus:</a:t>
            </a:r>
          </a:p>
          <a:p>
            <a:pPr marL="285750" indent="-285750">
              <a:buFont typeface="Arial" panose="020B0604020202020204" pitchFamily="34" charset="0"/>
              <a:buChar char="•"/>
            </a:pPr>
            <a:r>
              <a:rPr lang="en-US" dirty="0"/>
              <a:t>Ingesting XML, PDF, and JSON outputs from pygetpapers</a:t>
            </a:r>
          </a:p>
          <a:p>
            <a:pPr marL="285750" indent="-285750">
              <a:buFont typeface="Arial" panose="020B0604020202020204" pitchFamily="34" charset="0"/>
              <a:buChar char="•"/>
            </a:pPr>
            <a:r>
              <a:rPr lang="en-US" dirty="0"/>
              <a:t>Creating and managing searchable corpora</a:t>
            </a:r>
          </a:p>
          <a:p>
            <a:pPr marL="285750" indent="-285750">
              <a:buFont typeface="Arial" panose="020B0604020202020204" pitchFamily="34" charset="0"/>
              <a:buChar char="•"/>
            </a:pPr>
            <a:r>
              <a:rPr lang="en-US" dirty="0"/>
              <a:t>Structuring documents for downstream transformation</a:t>
            </a:r>
          </a:p>
          <a:p>
            <a:pPr marL="285750" indent="-285750">
              <a:buFont typeface="Arial" panose="020B0604020202020204" pitchFamily="34" charset="0"/>
              <a:buChar char="•"/>
            </a:pPr>
            <a:r>
              <a:rPr lang="en-US" dirty="0"/>
              <a:t>Enabling consistent corpus level operations and version control</a:t>
            </a:r>
          </a:p>
        </p:txBody>
      </p:sp>
    </p:spTree>
    <p:extLst>
      <p:ext uri="{BB962C8B-B14F-4D97-AF65-F5344CB8AC3E}">
        <p14:creationId xmlns:p14="http://schemas.microsoft.com/office/powerpoint/2010/main" val="1217058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65379-0FC8-2E13-4192-6E75DDF815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F6A87-E3C5-E28E-EAB7-A18FD037FD2C}"/>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5154A8FF-FB2C-661E-6D21-580D27186557}"/>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22B69A75-B4BF-B776-E370-DE3DC9F46DDA}"/>
              </a:ext>
            </a:extLst>
          </p:cNvPr>
          <p:cNvSpPr txBox="1"/>
          <p:nvPr/>
        </p:nvSpPr>
        <p:spPr>
          <a:xfrm>
            <a:off x="952500" y="246380"/>
            <a:ext cx="7071396" cy="523220"/>
          </a:xfrm>
          <a:prstGeom prst="rect">
            <a:avLst/>
          </a:prstGeom>
          <a:noFill/>
        </p:spPr>
        <p:txBody>
          <a:bodyPr wrap="square">
            <a:spAutoFit/>
          </a:body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txt2phrases</a:t>
            </a:r>
          </a:p>
        </p:txBody>
      </p:sp>
      <p:pic>
        <p:nvPicPr>
          <p:cNvPr id="11" name="Picture 2">
            <a:extLst>
              <a:ext uri="{FF2B5EF4-FFF2-40B4-BE49-F238E27FC236}">
                <a16:creationId xmlns:a16="http://schemas.microsoft.com/office/drawing/2014/main" id="{8230728C-25BD-A749-183B-340C06140B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DF5C76E-65D1-95A1-20F1-CF6977DADD25}"/>
              </a:ext>
            </a:extLst>
          </p:cNvPr>
          <p:cNvSpPr txBox="1"/>
          <p:nvPr/>
        </p:nvSpPr>
        <p:spPr>
          <a:xfrm>
            <a:off x="1326490" y="854664"/>
            <a:ext cx="3103222" cy="400110"/>
          </a:xfrm>
          <a:prstGeom prst="rect">
            <a:avLst/>
          </a:prstGeom>
          <a:noFill/>
        </p:spPr>
        <p:txBody>
          <a:bodyPr wrap="none" rtlCol="0">
            <a:spAutoFit/>
          </a:bodyPr>
          <a:lstStyle/>
          <a:p>
            <a:r>
              <a:rPr lang="en-US" sz="2000" dirty="0"/>
              <a:t>Managed by: </a:t>
            </a:r>
            <a:r>
              <a:rPr lang="en-US" sz="2000" i="1" dirty="0"/>
              <a:t>Sakshi Gupta</a:t>
            </a:r>
          </a:p>
        </p:txBody>
      </p:sp>
      <p:sp>
        <p:nvSpPr>
          <p:cNvPr id="7" name="TextBox 6">
            <a:extLst>
              <a:ext uri="{FF2B5EF4-FFF2-40B4-BE49-F238E27FC236}">
                <a16:creationId xmlns:a16="http://schemas.microsoft.com/office/drawing/2014/main" id="{B87A5DAE-6387-7584-1E77-A3267A0C577D}"/>
              </a:ext>
            </a:extLst>
          </p:cNvPr>
          <p:cNvSpPr txBox="1"/>
          <p:nvPr/>
        </p:nvSpPr>
        <p:spPr>
          <a:xfrm>
            <a:off x="838200" y="1513219"/>
            <a:ext cx="9093200" cy="923330"/>
          </a:xfrm>
          <a:prstGeom prst="rect">
            <a:avLst/>
          </a:prstGeom>
          <a:noFill/>
        </p:spPr>
        <p:txBody>
          <a:bodyPr wrap="square" rtlCol="0">
            <a:spAutoFit/>
          </a:bodyPr>
          <a:lstStyle/>
          <a:p>
            <a:r>
              <a:rPr lang="en-US" dirty="0"/>
              <a:t>txt2phrases is a text processing tool that extracts meaningful key phrases and terms from research papers. In our workflow, it converts raw textual content into structured keyword level outputs.</a:t>
            </a:r>
          </a:p>
        </p:txBody>
      </p:sp>
      <p:pic>
        <p:nvPicPr>
          <p:cNvPr id="8" name="Picture 7">
            <a:extLst>
              <a:ext uri="{FF2B5EF4-FFF2-40B4-BE49-F238E27FC236}">
                <a16:creationId xmlns:a16="http://schemas.microsoft.com/office/drawing/2014/main" id="{4E6F7F3A-FDB2-618D-8A47-C1E9E0FB8C2D}"/>
              </a:ext>
            </a:extLst>
          </p:cNvPr>
          <p:cNvPicPr>
            <a:picLocks noChangeAspect="1"/>
          </p:cNvPicPr>
          <p:nvPr/>
        </p:nvPicPr>
        <p:blipFill>
          <a:blip r:embed="rId3"/>
          <a:srcRect/>
          <a:stretch/>
        </p:blipFill>
        <p:spPr>
          <a:xfrm>
            <a:off x="953122" y="840598"/>
            <a:ext cx="397432" cy="399390"/>
          </a:xfrm>
          <a:prstGeom prst="rect">
            <a:avLst/>
          </a:prstGeom>
        </p:spPr>
      </p:pic>
      <p:sp>
        <p:nvSpPr>
          <p:cNvPr id="12" name="TextBox 11">
            <a:extLst>
              <a:ext uri="{FF2B5EF4-FFF2-40B4-BE49-F238E27FC236}">
                <a16:creationId xmlns:a16="http://schemas.microsoft.com/office/drawing/2014/main" id="{47372C1B-6C38-6705-B2F4-3BB0EAFDD200}"/>
              </a:ext>
            </a:extLst>
          </p:cNvPr>
          <p:cNvSpPr txBox="1"/>
          <p:nvPr/>
        </p:nvSpPr>
        <p:spPr>
          <a:xfrm>
            <a:off x="838200" y="2626763"/>
            <a:ext cx="7628370" cy="1754326"/>
          </a:xfrm>
          <a:prstGeom prst="rect">
            <a:avLst/>
          </a:prstGeom>
          <a:noFill/>
        </p:spPr>
        <p:txBody>
          <a:bodyPr wrap="none" rtlCol="0">
            <a:spAutoFit/>
          </a:bodyPr>
          <a:lstStyle/>
          <a:p>
            <a:r>
              <a:rPr lang="en-US" b="1" dirty="0"/>
              <a:t>How our team utilizes it:</a:t>
            </a:r>
          </a:p>
          <a:p>
            <a:pPr marL="285750" indent="-285750">
              <a:buFont typeface="Arial" panose="020B0604020202020204" pitchFamily="34" charset="0"/>
              <a:buChar char="•"/>
            </a:pPr>
            <a:r>
              <a:rPr lang="en-US" dirty="0"/>
              <a:t>Processing PDF and HTML documents automatically</a:t>
            </a:r>
          </a:p>
          <a:p>
            <a:pPr marL="285750" indent="-285750">
              <a:buFont typeface="Arial" panose="020B0604020202020204" pitchFamily="34" charset="0"/>
              <a:buChar char="•"/>
            </a:pPr>
            <a:r>
              <a:rPr lang="en-US" dirty="0"/>
              <a:t>Extracting keywords and domain specific phrases</a:t>
            </a:r>
          </a:p>
          <a:p>
            <a:pPr marL="285750" indent="-285750">
              <a:buFont typeface="Arial" panose="020B0604020202020204" pitchFamily="34" charset="0"/>
              <a:buChar char="•"/>
            </a:pPr>
            <a:r>
              <a:rPr lang="en-US" dirty="0"/>
              <a:t>Generating structured phrase outputs for further analysis</a:t>
            </a:r>
          </a:p>
          <a:p>
            <a:pPr marL="285750" indent="-285750">
              <a:buFont typeface="Arial" panose="020B0604020202020204" pitchFamily="34" charset="0"/>
              <a:buChar char="•"/>
            </a:pPr>
            <a:r>
              <a:rPr lang="en-US" dirty="0"/>
              <a:t>Supports keyword CSV exports</a:t>
            </a:r>
          </a:p>
          <a:p>
            <a:pPr marL="285750" indent="-285750">
              <a:buFont typeface="Arial" panose="020B0604020202020204" pitchFamily="34" charset="0"/>
              <a:buChar char="•"/>
            </a:pPr>
            <a:r>
              <a:rPr lang="en-US" dirty="0"/>
              <a:t>Providing structured inputs &amp; term frequencies for encyclopedia building</a:t>
            </a:r>
          </a:p>
        </p:txBody>
      </p:sp>
      <p:pic>
        <p:nvPicPr>
          <p:cNvPr id="4" name="Picture 3">
            <a:extLst>
              <a:ext uri="{FF2B5EF4-FFF2-40B4-BE49-F238E27FC236}">
                <a16:creationId xmlns:a16="http://schemas.microsoft.com/office/drawing/2014/main" id="{C9D29E02-9A15-BE11-FBB1-EF821013E7F5}"/>
              </a:ext>
            </a:extLst>
          </p:cNvPr>
          <p:cNvPicPr>
            <a:picLocks noChangeAspect="1"/>
          </p:cNvPicPr>
          <p:nvPr/>
        </p:nvPicPr>
        <p:blipFill>
          <a:blip r:embed="rId4"/>
          <a:stretch>
            <a:fillRect/>
          </a:stretch>
        </p:blipFill>
        <p:spPr>
          <a:xfrm>
            <a:off x="838200" y="4662614"/>
            <a:ext cx="6968804" cy="682167"/>
          </a:xfrm>
          <a:prstGeom prst="rect">
            <a:avLst/>
          </a:prstGeom>
        </p:spPr>
      </p:pic>
      <p:pic>
        <p:nvPicPr>
          <p:cNvPr id="5" name="Picture 4">
            <a:extLst>
              <a:ext uri="{FF2B5EF4-FFF2-40B4-BE49-F238E27FC236}">
                <a16:creationId xmlns:a16="http://schemas.microsoft.com/office/drawing/2014/main" id="{7430BA99-52AE-E6E9-8258-A94E787BBFAE}"/>
              </a:ext>
            </a:extLst>
          </p:cNvPr>
          <p:cNvPicPr>
            <a:picLocks noChangeAspect="1"/>
          </p:cNvPicPr>
          <p:nvPr/>
        </p:nvPicPr>
        <p:blipFill>
          <a:blip r:embed="rId5"/>
          <a:stretch>
            <a:fillRect/>
          </a:stretch>
        </p:blipFill>
        <p:spPr>
          <a:xfrm>
            <a:off x="838200" y="5487307"/>
            <a:ext cx="6968804" cy="689656"/>
          </a:xfrm>
          <a:prstGeom prst="rect">
            <a:avLst/>
          </a:prstGeom>
        </p:spPr>
      </p:pic>
      <p:pic>
        <p:nvPicPr>
          <p:cNvPr id="9" name="Picture 8">
            <a:extLst>
              <a:ext uri="{FF2B5EF4-FFF2-40B4-BE49-F238E27FC236}">
                <a16:creationId xmlns:a16="http://schemas.microsoft.com/office/drawing/2014/main" id="{30D62625-6F9F-68C1-2B95-E4F2242BE1E6}"/>
              </a:ext>
            </a:extLst>
          </p:cNvPr>
          <p:cNvPicPr>
            <a:picLocks noChangeAspect="1"/>
          </p:cNvPicPr>
          <p:nvPr/>
        </p:nvPicPr>
        <p:blipFill>
          <a:blip r:embed="rId6"/>
          <a:stretch>
            <a:fillRect/>
          </a:stretch>
        </p:blipFill>
        <p:spPr>
          <a:xfrm>
            <a:off x="9283459" y="2226008"/>
            <a:ext cx="2908541" cy="4390887"/>
          </a:xfrm>
          <a:prstGeom prst="rect">
            <a:avLst/>
          </a:prstGeom>
        </p:spPr>
      </p:pic>
    </p:spTree>
    <p:extLst>
      <p:ext uri="{BB962C8B-B14F-4D97-AF65-F5344CB8AC3E}">
        <p14:creationId xmlns:p14="http://schemas.microsoft.com/office/powerpoint/2010/main" val="97761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020CE-77F3-A65C-9944-09D107102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7338C5-A025-ADAC-E245-25422E1BDF97}"/>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5035B726-9B85-FE89-CEC3-D5565B195DD8}"/>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94E4A326-A6F5-B6D6-A6CB-D5E577CFB7C1}"/>
              </a:ext>
            </a:extLst>
          </p:cNvPr>
          <p:cNvSpPr txBox="1"/>
          <p:nvPr/>
        </p:nvSpPr>
        <p:spPr>
          <a:xfrm>
            <a:off x="952500" y="246380"/>
            <a:ext cx="7071396" cy="523220"/>
          </a:xfrm>
          <a:prstGeom prst="rect">
            <a:avLst/>
          </a:prstGeom>
          <a:noFill/>
        </p:spPr>
        <p:txBody>
          <a:bodyPr wrap="square">
            <a:spAutoFit/>
          </a:body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encyclopedia</a:t>
            </a:r>
          </a:p>
        </p:txBody>
      </p:sp>
      <p:pic>
        <p:nvPicPr>
          <p:cNvPr id="11" name="Picture 2">
            <a:extLst>
              <a:ext uri="{FF2B5EF4-FFF2-40B4-BE49-F238E27FC236}">
                <a16:creationId xmlns:a16="http://schemas.microsoft.com/office/drawing/2014/main" id="{E8800091-2AAA-07DA-5647-997609DC1C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1A4C4FB-F4A9-A418-110D-55B9C58037CE}"/>
              </a:ext>
            </a:extLst>
          </p:cNvPr>
          <p:cNvSpPr txBox="1"/>
          <p:nvPr/>
        </p:nvSpPr>
        <p:spPr>
          <a:xfrm>
            <a:off x="1326490" y="854664"/>
            <a:ext cx="4043223" cy="400110"/>
          </a:xfrm>
          <a:prstGeom prst="rect">
            <a:avLst/>
          </a:prstGeom>
          <a:noFill/>
        </p:spPr>
        <p:txBody>
          <a:bodyPr wrap="none" rtlCol="0">
            <a:spAutoFit/>
          </a:bodyPr>
          <a:lstStyle/>
          <a:p>
            <a:r>
              <a:rPr lang="en-US" sz="2000" dirty="0"/>
              <a:t>Managed by: </a:t>
            </a:r>
            <a:r>
              <a:rPr lang="en-US" sz="2000" i="1" dirty="0"/>
              <a:t>Taiba Shamim &amp; team</a:t>
            </a:r>
          </a:p>
        </p:txBody>
      </p:sp>
      <p:sp>
        <p:nvSpPr>
          <p:cNvPr id="7" name="TextBox 6">
            <a:extLst>
              <a:ext uri="{FF2B5EF4-FFF2-40B4-BE49-F238E27FC236}">
                <a16:creationId xmlns:a16="http://schemas.microsoft.com/office/drawing/2014/main" id="{BB130902-FDDA-C886-6509-B524CD7CE344}"/>
              </a:ext>
            </a:extLst>
          </p:cNvPr>
          <p:cNvSpPr txBox="1"/>
          <p:nvPr/>
        </p:nvSpPr>
        <p:spPr>
          <a:xfrm>
            <a:off x="838200" y="1513219"/>
            <a:ext cx="9093200" cy="646331"/>
          </a:xfrm>
          <a:prstGeom prst="rect">
            <a:avLst/>
          </a:prstGeom>
          <a:noFill/>
        </p:spPr>
        <p:txBody>
          <a:bodyPr wrap="square" rtlCol="0">
            <a:spAutoFit/>
          </a:bodyPr>
          <a:lstStyle/>
          <a:p>
            <a:r>
              <a:rPr lang="en-US" dirty="0"/>
              <a:t>The Encyclopedia Project is a comprehensive toolset for extracting and analyzing keywords from scientific documents, with a focus on climate change research and IPCC reports.</a:t>
            </a:r>
          </a:p>
        </p:txBody>
      </p:sp>
      <p:pic>
        <p:nvPicPr>
          <p:cNvPr id="8" name="Picture 7">
            <a:extLst>
              <a:ext uri="{FF2B5EF4-FFF2-40B4-BE49-F238E27FC236}">
                <a16:creationId xmlns:a16="http://schemas.microsoft.com/office/drawing/2014/main" id="{1CF291FD-0BCF-5529-3E73-0097E1154869}"/>
              </a:ext>
            </a:extLst>
          </p:cNvPr>
          <p:cNvPicPr>
            <a:picLocks noChangeAspect="1"/>
          </p:cNvPicPr>
          <p:nvPr/>
        </p:nvPicPr>
        <p:blipFill>
          <a:blip r:embed="rId3"/>
          <a:srcRect/>
          <a:stretch/>
        </p:blipFill>
        <p:spPr>
          <a:xfrm>
            <a:off x="953122" y="841577"/>
            <a:ext cx="397432" cy="397432"/>
          </a:xfrm>
          <a:prstGeom prst="rect">
            <a:avLst/>
          </a:prstGeom>
        </p:spPr>
      </p:pic>
      <p:sp>
        <p:nvSpPr>
          <p:cNvPr id="12" name="TextBox 11">
            <a:extLst>
              <a:ext uri="{FF2B5EF4-FFF2-40B4-BE49-F238E27FC236}">
                <a16:creationId xmlns:a16="http://schemas.microsoft.com/office/drawing/2014/main" id="{5905D1E2-F6AD-41FE-F886-A49FCE0682E9}"/>
              </a:ext>
            </a:extLst>
          </p:cNvPr>
          <p:cNvSpPr txBox="1"/>
          <p:nvPr/>
        </p:nvSpPr>
        <p:spPr>
          <a:xfrm>
            <a:off x="838200" y="2411288"/>
            <a:ext cx="7107621" cy="2308324"/>
          </a:xfrm>
          <a:prstGeom prst="rect">
            <a:avLst/>
          </a:prstGeom>
          <a:noFill/>
        </p:spPr>
        <p:txBody>
          <a:bodyPr wrap="square" rtlCol="0">
            <a:spAutoFit/>
          </a:bodyPr>
          <a:lstStyle/>
          <a:p>
            <a:r>
              <a:rPr lang="en-US" b="1" dirty="0"/>
              <a:t>Subprojects within the Encyclopedia Project:</a:t>
            </a:r>
            <a:endParaRPr lang="en-US" dirty="0"/>
          </a:p>
          <a:p>
            <a:pPr marL="285750" indent="-285750">
              <a:buFont typeface="Arial" panose="020B0604020202020204" pitchFamily="34" charset="0"/>
              <a:buChar char="•"/>
            </a:pPr>
            <a:r>
              <a:rPr lang="en-US" dirty="0"/>
              <a:t>Keyword_extraction - AI-powered keyword extraction from text documents</a:t>
            </a:r>
          </a:p>
          <a:p>
            <a:pPr marL="285750" indent="-285750">
              <a:buFont typeface="Arial" panose="020B0604020202020204" pitchFamily="34" charset="0"/>
              <a:buChar char="•"/>
            </a:pPr>
            <a:r>
              <a:rPr lang="en-US" dirty="0"/>
              <a:t>Dictionary - Structured storage and analysis of extracted keywords and document content</a:t>
            </a:r>
          </a:p>
          <a:p>
            <a:pPr marL="285750" indent="-285750">
              <a:buFont typeface="Arial" panose="020B0604020202020204" pitchFamily="34" charset="0"/>
              <a:buChar char="•"/>
            </a:pPr>
            <a:r>
              <a:rPr lang="en-US" dirty="0"/>
              <a:t>Encyclopedia Browser - Web-based browser for searching and exploring encyclopedia entries. Supports up to 5,000 entries with advanced search capabilities</a:t>
            </a:r>
          </a:p>
        </p:txBody>
      </p:sp>
    </p:spTree>
    <p:extLst>
      <p:ext uri="{BB962C8B-B14F-4D97-AF65-F5344CB8AC3E}">
        <p14:creationId xmlns:p14="http://schemas.microsoft.com/office/powerpoint/2010/main" val="1621987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171A7-E7F0-4A8A-28CB-DDA8F3A4B6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AF7A28-A90A-1FEA-2207-AF8D9D12B190}"/>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6D6FA52B-D39D-0A91-0DA6-FD85D82D787A}"/>
              </a:ext>
            </a:extLst>
          </p:cNvPr>
          <p:cNvSpPr>
            <a:spLocks noGrp="1"/>
          </p:cNvSpPr>
          <p:nvPr>
            <p:ph idx="1"/>
          </p:nvPr>
        </p:nvSpPr>
        <p:spPr/>
        <p:txBody>
          <a:bodyPr/>
          <a:lstStyle/>
          <a:p>
            <a:pPr marL="0" indent="0">
              <a:buNone/>
            </a:pPr>
            <a:r>
              <a:rPr lang="en-US" dirty="0"/>
              <a:t> </a:t>
            </a:r>
          </a:p>
        </p:txBody>
      </p:sp>
      <p:pic>
        <p:nvPicPr>
          <p:cNvPr id="11" name="Picture 2">
            <a:extLst>
              <a:ext uri="{FF2B5EF4-FFF2-40B4-BE49-F238E27FC236}">
                <a16:creationId xmlns:a16="http://schemas.microsoft.com/office/drawing/2014/main" id="{EC03A82C-DE01-B182-93EC-2D9E1B7F85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3FD27C5-9100-339E-8195-B2ACB69EEF2D}"/>
              </a:ext>
            </a:extLst>
          </p:cNvPr>
          <p:cNvSpPr txBox="1"/>
          <p:nvPr/>
        </p:nvSpPr>
        <p:spPr>
          <a:xfrm>
            <a:off x="1925955" y="6311900"/>
            <a:ext cx="8340090" cy="400110"/>
          </a:xfrm>
          <a:prstGeom prst="rect">
            <a:avLst/>
          </a:prstGeom>
          <a:noFill/>
        </p:spPr>
        <p:txBody>
          <a:bodyPr wrap="square">
            <a:spAutoFit/>
          </a:bodyPr>
          <a:lstStyle/>
          <a:p>
            <a:pPr algn="ctr"/>
            <a:r>
              <a:rPr lang="en-US" sz="2000" dirty="0">
                <a:latin typeface="Helvetica Neue" panose="02000503000000020004" pitchFamily="2" charset="0"/>
                <a:ea typeface="Helvetica Neue" panose="02000503000000020004" pitchFamily="2" charset="0"/>
                <a:cs typeface="Helvetica Neue" panose="02000503000000020004" pitchFamily="2" charset="0"/>
              </a:rPr>
              <a:t>Encyclopedia Example</a:t>
            </a:r>
          </a:p>
        </p:txBody>
      </p:sp>
      <p:pic>
        <p:nvPicPr>
          <p:cNvPr id="4" name="Picture 3">
            <a:extLst>
              <a:ext uri="{FF2B5EF4-FFF2-40B4-BE49-F238E27FC236}">
                <a16:creationId xmlns:a16="http://schemas.microsoft.com/office/drawing/2014/main" id="{149B8071-81F9-1BF1-E059-4D09EBDE7423}"/>
              </a:ext>
            </a:extLst>
          </p:cNvPr>
          <p:cNvPicPr>
            <a:picLocks noChangeAspect="1"/>
          </p:cNvPicPr>
          <p:nvPr/>
        </p:nvPicPr>
        <p:blipFill>
          <a:blip r:embed="rId3"/>
          <a:stretch>
            <a:fillRect/>
          </a:stretch>
        </p:blipFill>
        <p:spPr>
          <a:xfrm>
            <a:off x="1903452" y="246380"/>
            <a:ext cx="8385095" cy="5906935"/>
          </a:xfrm>
          <a:prstGeom prst="rect">
            <a:avLst/>
          </a:prstGeom>
        </p:spPr>
      </p:pic>
    </p:spTree>
    <p:extLst>
      <p:ext uri="{BB962C8B-B14F-4D97-AF65-F5344CB8AC3E}">
        <p14:creationId xmlns:p14="http://schemas.microsoft.com/office/powerpoint/2010/main" val="3973380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6A0F5-0FD9-75AA-08A5-C1983EC05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400B9-C487-A36E-A750-B6DA63436F9F}"/>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51A98430-A993-E14E-5132-3793C8389ED0}"/>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53DA1480-195A-0B4C-CE88-4502CF5AD98E}"/>
              </a:ext>
            </a:extLst>
          </p:cNvPr>
          <p:cNvSpPr txBox="1"/>
          <p:nvPr/>
        </p:nvSpPr>
        <p:spPr>
          <a:xfrm>
            <a:off x="952500" y="246380"/>
            <a:ext cx="7071396" cy="523220"/>
          </a:xfrm>
          <a:prstGeom prst="rect">
            <a:avLst/>
          </a:prstGeom>
          <a:noFill/>
        </p:spPr>
        <p:txBody>
          <a:bodyPr wrap="square">
            <a:spAutoFit/>
          </a:body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Knowledge Graph</a:t>
            </a:r>
          </a:p>
        </p:txBody>
      </p:sp>
      <p:pic>
        <p:nvPicPr>
          <p:cNvPr id="11" name="Picture 2">
            <a:extLst>
              <a:ext uri="{FF2B5EF4-FFF2-40B4-BE49-F238E27FC236}">
                <a16:creationId xmlns:a16="http://schemas.microsoft.com/office/drawing/2014/main" id="{1690F8B8-AF65-5716-E2D7-AD383ED9E4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FE1EB00-9C43-8E8A-8AFD-76DEF50B17FC}"/>
              </a:ext>
            </a:extLst>
          </p:cNvPr>
          <p:cNvSpPr txBox="1"/>
          <p:nvPr/>
        </p:nvSpPr>
        <p:spPr>
          <a:xfrm>
            <a:off x="1728204" y="861371"/>
            <a:ext cx="5327612" cy="400110"/>
          </a:xfrm>
          <a:prstGeom prst="rect">
            <a:avLst/>
          </a:prstGeom>
          <a:noFill/>
        </p:spPr>
        <p:txBody>
          <a:bodyPr wrap="none" rtlCol="0">
            <a:spAutoFit/>
          </a:bodyPr>
          <a:lstStyle/>
          <a:p>
            <a:r>
              <a:rPr lang="en-US" sz="2000" dirty="0"/>
              <a:t>Managed by: </a:t>
            </a:r>
            <a:r>
              <a:rPr lang="en-US" sz="2000" i="1" dirty="0"/>
              <a:t>Vipparla Pushpa valli, and Saniya </a:t>
            </a:r>
          </a:p>
        </p:txBody>
      </p:sp>
      <p:sp>
        <p:nvSpPr>
          <p:cNvPr id="7" name="TextBox 6">
            <a:extLst>
              <a:ext uri="{FF2B5EF4-FFF2-40B4-BE49-F238E27FC236}">
                <a16:creationId xmlns:a16="http://schemas.microsoft.com/office/drawing/2014/main" id="{5887CE8B-6E9B-83BC-3270-3AC1734AD9BF}"/>
              </a:ext>
            </a:extLst>
          </p:cNvPr>
          <p:cNvSpPr txBox="1"/>
          <p:nvPr/>
        </p:nvSpPr>
        <p:spPr>
          <a:xfrm>
            <a:off x="838200" y="1513219"/>
            <a:ext cx="9093200" cy="923330"/>
          </a:xfrm>
          <a:prstGeom prst="rect">
            <a:avLst/>
          </a:prstGeom>
          <a:noFill/>
        </p:spPr>
        <p:txBody>
          <a:bodyPr wrap="square" rtlCol="0">
            <a:spAutoFit/>
          </a:bodyPr>
          <a:lstStyle/>
          <a:p>
            <a:r>
              <a:rPr lang="en-US" dirty="0"/>
              <a:t>A structured network of interconnected concepts. In our workflow, the keywords curated in the encyclopedia become nodes, which are connected based on semantic relationships derived from Wikipedia pages.</a:t>
            </a:r>
          </a:p>
        </p:txBody>
      </p:sp>
      <p:pic>
        <p:nvPicPr>
          <p:cNvPr id="8" name="Picture 7">
            <a:extLst>
              <a:ext uri="{FF2B5EF4-FFF2-40B4-BE49-F238E27FC236}">
                <a16:creationId xmlns:a16="http://schemas.microsoft.com/office/drawing/2014/main" id="{64FF4674-6E2B-6E63-1B2C-25F90A1EB577}"/>
              </a:ext>
            </a:extLst>
          </p:cNvPr>
          <p:cNvPicPr>
            <a:picLocks noChangeAspect="1"/>
          </p:cNvPicPr>
          <p:nvPr/>
        </p:nvPicPr>
        <p:blipFill>
          <a:blip r:embed="rId3"/>
          <a:srcRect/>
          <a:stretch/>
        </p:blipFill>
        <p:spPr>
          <a:xfrm>
            <a:off x="953122" y="842165"/>
            <a:ext cx="397432" cy="396256"/>
          </a:xfrm>
          <a:prstGeom prst="rect">
            <a:avLst/>
          </a:prstGeom>
        </p:spPr>
      </p:pic>
      <p:sp>
        <p:nvSpPr>
          <p:cNvPr id="12" name="TextBox 11">
            <a:extLst>
              <a:ext uri="{FF2B5EF4-FFF2-40B4-BE49-F238E27FC236}">
                <a16:creationId xmlns:a16="http://schemas.microsoft.com/office/drawing/2014/main" id="{9F90CE07-727D-303C-1499-008DA49759AE}"/>
              </a:ext>
            </a:extLst>
          </p:cNvPr>
          <p:cNvSpPr txBox="1"/>
          <p:nvPr/>
        </p:nvSpPr>
        <p:spPr>
          <a:xfrm>
            <a:off x="838200" y="2548299"/>
            <a:ext cx="7784592" cy="1754326"/>
          </a:xfrm>
          <a:prstGeom prst="rect">
            <a:avLst/>
          </a:prstGeom>
          <a:noFill/>
        </p:spPr>
        <p:txBody>
          <a:bodyPr wrap="square" rtlCol="0">
            <a:spAutoFit/>
          </a:bodyPr>
          <a:lstStyle/>
          <a:p>
            <a:r>
              <a:rPr lang="en-US" b="1" dirty="0"/>
              <a:t>How our team utilizes it:</a:t>
            </a:r>
          </a:p>
          <a:p>
            <a:pPr marL="285750" indent="-285750">
              <a:buFont typeface="Arial" panose="020B0604020202020204" pitchFamily="34" charset="0"/>
              <a:buChar char="•"/>
            </a:pPr>
            <a:r>
              <a:rPr lang="en-US" dirty="0"/>
              <a:t>Identifying relationships between concepts using Wikipedia context</a:t>
            </a:r>
          </a:p>
          <a:p>
            <a:pPr marL="285750" indent="-285750">
              <a:buFont typeface="Arial" panose="020B0604020202020204" pitchFamily="34" charset="0"/>
              <a:buChar char="•"/>
            </a:pPr>
            <a:r>
              <a:rPr lang="en-US" dirty="0"/>
              <a:t>Creating edges based on semantic and topical connections</a:t>
            </a:r>
          </a:p>
          <a:p>
            <a:pPr marL="285750" indent="-285750">
              <a:buFont typeface="Arial" panose="020B0604020202020204" pitchFamily="34" charset="0"/>
              <a:buChar char="•"/>
            </a:pPr>
            <a:r>
              <a:rPr lang="en-US" dirty="0"/>
              <a:t>Structuring interconnected knowledge instead of isolated terms</a:t>
            </a:r>
          </a:p>
          <a:p>
            <a:pPr marL="285750" indent="-285750">
              <a:buFont typeface="Arial" panose="020B0604020202020204" pitchFamily="34" charset="0"/>
              <a:buChar char="•"/>
            </a:pPr>
            <a:r>
              <a:rPr lang="en-US" dirty="0"/>
              <a:t>Enabling visual exploration and discovery of concept clusters</a:t>
            </a:r>
          </a:p>
          <a:p>
            <a:pPr marL="285750" indent="-285750">
              <a:buFont typeface="Arial" panose="020B0604020202020204" pitchFamily="34" charset="0"/>
              <a:buChar char="•"/>
            </a:pPr>
            <a:r>
              <a:rPr lang="en-US" dirty="0"/>
              <a:t>Supporting deeper insight into how research themes relate to one another</a:t>
            </a:r>
          </a:p>
        </p:txBody>
      </p:sp>
      <p:pic>
        <p:nvPicPr>
          <p:cNvPr id="4" name="Picture 3">
            <a:extLst>
              <a:ext uri="{FF2B5EF4-FFF2-40B4-BE49-F238E27FC236}">
                <a16:creationId xmlns:a16="http://schemas.microsoft.com/office/drawing/2014/main" id="{AB03420B-32A6-D013-CDF1-E7C4C32417AF}"/>
              </a:ext>
            </a:extLst>
          </p:cNvPr>
          <p:cNvPicPr>
            <a:picLocks noChangeAspect="1"/>
          </p:cNvPicPr>
          <p:nvPr/>
        </p:nvPicPr>
        <p:blipFill>
          <a:blip r:embed="rId4"/>
          <a:srcRect/>
          <a:stretch/>
        </p:blipFill>
        <p:spPr>
          <a:xfrm>
            <a:off x="1350554" y="851367"/>
            <a:ext cx="397432" cy="396256"/>
          </a:xfrm>
          <a:prstGeom prst="rect">
            <a:avLst/>
          </a:prstGeom>
        </p:spPr>
      </p:pic>
    </p:spTree>
    <p:extLst>
      <p:ext uri="{BB962C8B-B14F-4D97-AF65-F5344CB8AC3E}">
        <p14:creationId xmlns:p14="http://schemas.microsoft.com/office/powerpoint/2010/main" val="3929988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55D29-56A2-C286-FB2E-2ADBD94D0A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052E2-D4FC-1D2C-092C-A71F23C8E8CF}"/>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0AB82225-7E44-DA85-5A2E-8DC50AF9408C}"/>
              </a:ext>
            </a:extLst>
          </p:cNvPr>
          <p:cNvSpPr>
            <a:spLocks noGrp="1"/>
          </p:cNvSpPr>
          <p:nvPr>
            <p:ph idx="1"/>
          </p:nvPr>
        </p:nvSpPr>
        <p:spPr/>
        <p:txBody>
          <a:bodyPr/>
          <a:lstStyle/>
          <a:p>
            <a:pPr marL="0" indent="0">
              <a:buNone/>
            </a:pPr>
            <a:r>
              <a:rPr lang="en-US" dirty="0"/>
              <a:t> </a:t>
            </a:r>
          </a:p>
        </p:txBody>
      </p:sp>
      <p:pic>
        <p:nvPicPr>
          <p:cNvPr id="11" name="Picture 2">
            <a:extLst>
              <a:ext uri="{FF2B5EF4-FFF2-40B4-BE49-F238E27FC236}">
                <a16:creationId xmlns:a16="http://schemas.microsoft.com/office/drawing/2014/main" id="{494F215E-C44C-09E3-F9EB-F8C5AC6CDC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423018"/>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A4BC0CE-CA82-B089-A5E4-C840CDE36122}"/>
              </a:ext>
            </a:extLst>
          </p:cNvPr>
          <p:cNvSpPr txBox="1"/>
          <p:nvPr/>
        </p:nvSpPr>
        <p:spPr>
          <a:xfrm>
            <a:off x="405287" y="5703700"/>
            <a:ext cx="11381423" cy="1631216"/>
          </a:xfrm>
          <a:prstGeom prst="rect">
            <a:avLst/>
          </a:prstGeom>
          <a:noFill/>
        </p:spPr>
        <p:txBody>
          <a:bodyPr wrap="square">
            <a:spAutoFit/>
          </a:bodyPr>
          <a:lstStyle/>
          <a:p>
            <a:pPr algn="ctr"/>
            <a:r>
              <a:rPr lang="en-US" sz="2000" dirty="0">
                <a:latin typeface="Helvetica Neue" panose="02000503000000020004" pitchFamily="2" charset="0"/>
                <a:ea typeface="Helvetica Neue" panose="02000503000000020004" pitchFamily="2" charset="0"/>
                <a:cs typeface="Helvetica Neue" panose="02000503000000020004" pitchFamily="2" charset="0"/>
              </a:rPr>
              <a:t>In our graph, each keyword acts as a node, and links are formed when concepts share contextual or relational overlap through their associated Wikipedia content, resulting in a structured and navigable semantic network</a:t>
            </a:r>
          </a:p>
          <a:p>
            <a:pPr algn="ct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p>
            <a:pPr algn="ct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4" name="Picture 3">
            <a:extLst>
              <a:ext uri="{FF2B5EF4-FFF2-40B4-BE49-F238E27FC236}">
                <a16:creationId xmlns:a16="http://schemas.microsoft.com/office/drawing/2014/main" id="{EC2F5D9B-890C-12A2-5F23-C11494EAAFED}"/>
              </a:ext>
            </a:extLst>
          </p:cNvPr>
          <p:cNvPicPr>
            <a:picLocks noChangeAspect="1"/>
          </p:cNvPicPr>
          <p:nvPr/>
        </p:nvPicPr>
        <p:blipFill>
          <a:blip r:embed="rId3"/>
          <a:stretch>
            <a:fillRect/>
          </a:stretch>
        </p:blipFill>
        <p:spPr>
          <a:xfrm>
            <a:off x="183062" y="107322"/>
            <a:ext cx="11825875" cy="5509291"/>
          </a:xfrm>
          <a:prstGeom prst="rect">
            <a:avLst/>
          </a:prstGeom>
        </p:spPr>
      </p:pic>
    </p:spTree>
    <p:extLst>
      <p:ext uri="{BB962C8B-B14F-4D97-AF65-F5344CB8AC3E}">
        <p14:creationId xmlns:p14="http://schemas.microsoft.com/office/powerpoint/2010/main" val="2474144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5383F-3F24-165D-4694-FE4E8EA389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6905F8-6EF4-5C43-E61B-379D05ECC004}"/>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06E51FE6-B577-9556-56EC-F86D4C463C41}"/>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348F123C-C9A0-84EA-0C43-AE2C4ACB8FF6}"/>
              </a:ext>
            </a:extLst>
          </p:cNvPr>
          <p:cNvSpPr txBox="1"/>
          <p:nvPr/>
        </p:nvSpPr>
        <p:spPr>
          <a:xfrm>
            <a:off x="952500" y="419427"/>
            <a:ext cx="7071396" cy="523220"/>
          </a:xfrm>
          <a:prstGeom prst="rect">
            <a:avLst/>
          </a:prstGeom>
          <a:noFill/>
        </p:spPr>
        <p:txBody>
          <a:bodyPr wrap="square">
            <a:spAutoFit/>
          </a:body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Other Tools Utilized by Our Team</a:t>
            </a:r>
          </a:p>
        </p:txBody>
      </p:sp>
      <p:pic>
        <p:nvPicPr>
          <p:cNvPr id="11" name="Picture 2">
            <a:extLst>
              <a:ext uri="{FF2B5EF4-FFF2-40B4-BE49-F238E27FC236}">
                <a16:creationId xmlns:a16="http://schemas.microsoft.com/office/drawing/2014/main" id="{6D03B50C-3238-FEED-2009-FCC1BD8008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2B1AAC0-A660-A9B5-6951-FCB19B8E6B27}"/>
              </a:ext>
            </a:extLst>
          </p:cNvPr>
          <p:cNvSpPr txBox="1"/>
          <p:nvPr/>
        </p:nvSpPr>
        <p:spPr>
          <a:xfrm>
            <a:off x="838200" y="1307312"/>
            <a:ext cx="9418163" cy="3693319"/>
          </a:xfrm>
          <a:prstGeom prst="rect">
            <a:avLst/>
          </a:prstGeom>
          <a:noFill/>
        </p:spPr>
        <p:txBody>
          <a:bodyPr wrap="square" rtlCol="0">
            <a:spAutoFit/>
          </a:bodyPr>
          <a:lstStyle/>
          <a:p>
            <a:pPr marL="342900" indent="-342900">
              <a:buFont typeface="+mj-lt"/>
              <a:buAutoNum type="arabicPeriod"/>
            </a:pPr>
            <a:r>
              <a:rPr lang="en-US" sz="2400" b="1" dirty="0"/>
              <a:t>amilib: </a:t>
            </a:r>
            <a:r>
              <a:rPr lang="en-US" sz="2400" dirty="0"/>
              <a:t>Python library designed for finding, cleaning, converting, searching, and republishing legacy documents (PDFs, PNGs, etc.)</a:t>
            </a:r>
          </a:p>
          <a:p>
            <a:pPr marL="342900" indent="-342900">
              <a:buFont typeface="+mj-lt"/>
              <a:buAutoNum type="arabicPeriod"/>
            </a:pPr>
            <a:endParaRPr lang="en-US" sz="2400" dirty="0"/>
          </a:p>
          <a:p>
            <a:pPr marL="342900" indent="-342900">
              <a:buFont typeface="+mj-lt"/>
              <a:buAutoNum type="arabicPeriod"/>
            </a:pPr>
            <a:r>
              <a:rPr lang="en-US" sz="2400" b="1" dirty="0"/>
              <a:t>docanalysis: </a:t>
            </a:r>
            <a:r>
              <a:rPr lang="en-US" sz="2400" dirty="0"/>
              <a:t>A command-line tool that processes document collections (CProjects) and performs text analysis</a:t>
            </a:r>
          </a:p>
          <a:p>
            <a:pPr marL="342900" indent="-342900">
              <a:buFont typeface="+mj-lt"/>
              <a:buAutoNum type="arabicPeriod"/>
            </a:pPr>
            <a:endParaRPr lang="en-US" sz="2400" dirty="0"/>
          </a:p>
          <a:p>
            <a:pPr marL="342900" indent="-342900">
              <a:buFont typeface="+mj-lt"/>
              <a:buAutoNum type="arabicPeriod"/>
            </a:pPr>
            <a:r>
              <a:rPr lang="en-US" sz="2400" b="1" dirty="0"/>
              <a:t>pyamiimage: </a:t>
            </a:r>
            <a:r>
              <a:rPr lang="en-US" sz="2400" dirty="0"/>
              <a:t>A set of tools to extract semantic information from scientific diagrams. The output of pyamiimage is an image with annotations of substrate, products &amp; enzymes.</a:t>
            </a:r>
            <a:endParaRPr lang="en-US" dirty="0"/>
          </a:p>
          <a:p>
            <a:pPr marL="342900" indent="-342900">
              <a:buFont typeface="+mj-lt"/>
              <a:buAutoNum type="arabicPeriod"/>
            </a:pPr>
            <a:endParaRPr lang="en-US" dirty="0"/>
          </a:p>
        </p:txBody>
      </p:sp>
    </p:spTree>
    <p:extLst>
      <p:ext uri="{BB962C8B-B14F-4D97-AF65-F5344CB8AC3E}">
        <p14:creationId xmlns:p14="http://schemas.microsoft.com/office/powerpoint/2010/main" val="1561460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5B6CF-2459-FC89-54C9-468C479935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30326-4B0D-6CE5-5B36-C7ABF7FF4AFA}"/>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24452077-0BCC-659E-8F42-D46FE7F3667B}"/>
              </a:ext>
            </a:extLst>
          </p:cNvPr>
          <p:cNvSpPr>
            <a:spLocks noGrp="1"/>
          </p:cNvSpPr>
          <p:nvPr>
            <p:ph idx="1"/>
          </p:nvPr>
        </p:nvSpPr>
        <p:spPr/>
        <p:txBody>
          <a:bodyPr/>
          <a:lstStyle/>
          <a:p>
            <a:pPr marL="0" indent="0">
              <a:buNone/>
            </a:pPr>
            <a:r>
              <a:rPr lang="en-US" dirty="0"/>
              <a:t> </a:t>
            </a:r>
          </a:p>
        </p:txBody>
      </p:sp>
      <p:pic>
        <p:nvPicPr>
          <p:cNvPr id="8" name="Picture 7" descr="A group of people in circle frames&#10;&#10;AI-generated content may be incorrect.">
            <a:extLst>
              <a:ext uri="{FF2B5EF4-FFF2-40B4-BE49-F238E27FC236}">
                <a16:creationId xmlns:a16="http://schemas.microsoft.com/office/drawing/2014/main" id="{C82EE2B9-3D04-5FE7-5B01-43F4EF66B186}"/>
              </a:ext>
            </a:extLst>
          </p:cNvPr>
          <p:cNvPicPr>
            <a:picLocks noChangeAspect="1"/>
          </p:cNvPicPr>
          <p:nvPr/>
        </p:nvPicPr>
        <p:blipFill>
          <a:blip r:embed="rId2"/>
          <a:stretch>
            <a:fillRect/>
          </a:stretch>
        </p:blipFill>
        <p:spPr>
          <a:xfrm>
            <a:off x="181304" y="54747"/>
            <a:ext cx="11829392" cy="6748506"/>
          </a:xfrm>
          <a:prstGeom prst="rect">
            <a:avLst/>
          </a:prstGeom>
        </p:spPr>
      </p:pic>
      <p:pic>
        <p:nvPicPr>
          <p:cNvPr id="9" name="Picture 2">
            <a:extLst>
              <a:ext uri="{FF2B5EF4-FFF2-40B4-BE49-F238E27FC236}">
                <a16:creationId xmlns:a16="http://schemas.microsoft.com/office/drawing/2014/main" id="{C7E0401E-09F1-09D8-849B-0E7EFC94F5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7378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31938-0B63-582D-C472-C025EA97E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807C03-1C38-0E30-FCC0-16765BA0A1A6}"/>
              </a:ext>
            </a:extLst>
          </p:cNvPr>
          <p:cNvSpPr>
            <a:spLocks noGrp="1"/>
          </p:cNvSpPr>
          <p:nvPr>
            <p:ph type="title"/>
          </p:nvPr>
        </p:nvSpPr>
        <p:spPr>
          <a:xfrm>
            <a:off x="10117872" y="365125"/>
            <a:ext cx="1235927" cy="1325563"/>
          </a:xfrm>
        </p:spPr>
        <p:txBody>
          <a:bodyPr/>
          <a:lstStyle/>
          <a:p>
            <a:r>
              <a:rPr lang="en-US" dirty="0"/>
              <a:t> </a:t>
            </a:r>
          </a:p>
        </p:txBody>
      </p:sp>
      <p:sp>
        <p:nvSpPr>
          <p:cNvPr id="6" name="Content Placeholder 5">
            <a:extLst>
              <a:ext uri="{FF2B5EF4-FFF2-40B4-BE49-F238E27FC236}">
                <a16:creationId xmlns:a16="http://schemas.microsoft.com/office/drawing/2014/main" id="{1174AF1E-6CA1-E0E8-5722-65C0D963FEF7}"/>
              </a:ext>
            </a:extLst>
          </p:cNvPr>
          <p:cNvSpPr>
            <a:spLocks noGrp="1"/>
          </p:cNvSpPr>
          <p:nvPr>
            <p:ph idx="1"/>
          </p:nvPr>
        </p:nvSpPr>
        <p:spPr/>
        <p:txBody>
          <a:bodyPr/>
          <a:lstStyle/>
          <a:p>
            <a:pPr marL="0" indent="0">
              <a:buNone/>
            </a:pPr>
            <a:r>
              <a:rPr lang="en-US" dirty="0"/>
              <a:t> </a:t>
            </a:r>
          </a:p>
        </p:txBody>
      </p:sp>
      <p:sp>
        <p:nvSpPr>
          <p:cNvPr id="10" name="TextBox 9">
            <a:extLst>
              <a:ext uri="{FF2B5EF4-FFF2-40B4-BE49-F238E27FC236}">
                <a16:creationId xmlns:a16="http://schemas.microsoft.com/office/drawing/2014/main" id="{CEBD74D4-E7E8-A40A-AEA2-47F6F3133364}"/>
              </a:ext>
            </a:extLst>
          </p:cNvPr>
          <p:cNvSpPr txBox="1"/>
          <p:nvPr/>
        </p:nvSpPr>
        <p:spPr>
          <a:xfrm>
            <a:off x="952500" y="419427"/>
            <a:ext cx="7071396" cy="523220"/>
          </a:xfrm>
          <a:prstGeom prst="rect">
            <a:avLst/>
          </a:prstGeom>
          <a:noFill/>
        </p:spPr>
        <p:txBody>
          <a:bodyPr wrap="square">
            <a:spAutoFit/>
          </a:body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Long Term Goals</a:t>
            </a:r>
          </a:p>
        </p:txBody>
      </p:sp>
      <p:pic>
        <p:nvPicPr>
          <p:cNvPr id="11" name="Picture 2">
            <a:extLst>
              <a:ext uri="{FF2B5EF4-FFF2-40B4-BE49-F238E27FC236}">
                <a16:creationId xmlns:a16="http://schemas.microsoft.com/office/drawing/2014/main" id="{02A88A6F-75AC-5103-134C-5A4BA6A75A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 y="0"/>
            <a:ext cx="492760" cy="49276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94934D6-27D1-D556-FDBE-8F8FAC32864D}"/>
              </a:ext>
            </a:extLst>
          </p:cNvPr>
          <p:cNvSpPr txBox="1"/>
          <p:nvPr/>
        </p:nvSpPr>
        <p:spPr>
          <a:xfrm>
            <a:off x="838200" y="1307311"/>
            <a:ext cx="9578419"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Prepare a Knowledge Graph for </a:t>
            </a:r>
            <a:r>
              <a:rPr lang="en-US" sz="2400" b="1" dirty="0"/>
              <a:t>The Intergovernmental Panel on Climate Change (IPCC)</a:t>
            </a:r>
            <a:r>
              <a:rPr lang="en-US" sz="2400" dirty="0"/>
              <a:t> Assessment Reports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A Knowledge Graph for </a:t>
            </a:r>
            <a:r>
              <a:rPr lang="en-US" sz="2400" b="1" dirty="0"/>
              <a:t>OT-</a:t>
            </a:r>
            <a:r>
              <a:rPr lang="en-US" sz="2400" b="1" dirty="0" err="1"/>
              <a:t>ViRARe</a:t>
            </a:r>
            <a:r>
              <a:rPr lang="en-US" sz="2400" b="1" dirty="0"/>
              <a:t> </a:t>
            </a:r>
            <a:r>
              <a:rPr lang="en-US" sz="2400" dirty="0"/>
              <a:t>&amp; assessment for scientific research, starting with plant science in India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818032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0C8C7-1C2F-826B-C397-1799C4C74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CDD6B8-058E-0EF1-F634-416A02AAE543}"/>
              </a:ext>
            </a:extLst>
          </p:cNvPr>
          <p:cNvSpPr>
            <a:spLocks noGrp="1"/>
          </p:cNvSpPr>
          <p:nvPr>
            <p:ph type="ctrTitle"/>
          </p:nvPr>
        </p:nvSpPr>
        <p:spPr>
          <a:xfrm>
            <a:off x="1524000" y="2532031"/>
            <a:ext cx="9144000" cy="2387600"/>
          </a:xfrm>
        </p:spPr>
        <p:txBody>
          <a:bodyPr/>
          <a:lstStyle/>
          <a:p>
            <a:r>
              <a:rPr lang="en-US" b="1" dirty="0">
                <a:latin typeface="Helvetica Neue" panose="02000503000000020004" pitchFamily="2" charset="0"/>
                <a:ea typeface="Helvetica Neue" panose="02000503000000020004" pitchFamily="2" charset="0"/>
                <a:cs typeface="Helvetica Neue" panose="02000503000000020004" pitchFamily="2" charset="0"/>
              </a:rPr>
              <a:t>Thank You!</a:t>
            </a:r>
            <a:endParaRPr lang="en-US" b="1" i="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Subtitle 2">
            <a:extLst>
              <a:ext uri="{FF2B5EF4-FFF2-40B4-BE49-F238E27FC236}">
                <a16:creationId xmlns:a16="http://schemas.microsoft.com/office/drawing/2014/main" id="{342CBDD4-FBC5-6598-E3C4-5F390A6616DD}"/>
              </a:ext>
            </a:extLst>
          </p:cNvPr>
          <p:cNvSpPr>
            <a:spLocks noGrp="1"/>
          </p:cNvSpPr>
          <p:nvPr>
            <p:ph type="subTitle" idx="1"/>
          </p:nvPr>
        </p:nvSpPr>
        <p:spPr/>
        <p:txBody>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 </a:t>
            </a:r>
          </a:p>
        </p:txBody>
      </p:sp>
      <p:pic>
        <p:nvPicPr>
          <p:cNvPr id="1026" name="Picture 2">
            <a:extLst>
              <a:ext uri="{FF2B5EF4-FFF2-40B4-BE49-F238E27FC236}">
                <a16:creationId xmlns:a16="http://schemas.microsoft.com/office/drawing/2014/main" id="{9B7DF645-3973-344E-1302-130D2526FB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6000" y="1600200"/>
            <a:ext cx="25400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56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5897</TotalTime>
  <Words>866</Words>
  <Application>Microsoft Macintosh PowerPoint</Application>
  <PresentationFormat>Widescreen</PresentationFormat>
  <Paragraphs>119</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Helvetica Neue</vt:lpstr>
      <vt:lpstr>Office Theme</vt:lpstr>
      <vt:lpstr>#semanticClimate</vt:lpstr>
      <vt:lpstr> </vt:lpstr>
      <vt:lpstr> </vt:lpstr>
      <vt:lpstr> </vt:lpstr>
      <vt:lpstr> </vt:lpstr>
      <vt:lpstr> </vt:lpstr>
      <vt:lpstr> </vt:lpstr>
      <vt:lpstr> </vt:lpstr>
      <vt:lpstr> </vt:lpstr>
      <vt:lpstr> </vt:lpstr>
      <vt:lpstr> </vt:lpstr>
      <vt:lpstr> </vt:lpstr>
      <vt:lpstr> </vt:lpstr>
      <vt:lpstr> </vt:lpstr>
      <vt:lpstr> </vt:lpstr>
      <vt:lpstr>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Arhaan Azmi</dc:creator>
  <cp:lastModifiedBy>Arhaan Azmi</cp:lastModifiedBy>
  <cp:revision>12</cp:revision>
  <dcterms:created xsi:type="dcterms:W3CDTF">2026-02-01T19:21:39Z</dcterms:created>
  <dcterms:modified xsi:type="dcterms:W3CDTF">2026-02-26T22:31:23Z</dcterms:modified>
</cp:coreProperties>
</file>