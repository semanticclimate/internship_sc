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6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2592-02AC-EA01-3BCE-010CF081D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C98B3-4002-07FB-7209-2BD0223BC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B100-039C-71D2-A6E2-6801D372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53671-35CA-DD68-63D2-EF21E185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FB867-6F5D-E669-8115-5F1EC752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57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19A9-B365-DBA3-6F67-AD5A09DC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31C7-4949-A129-513A-A12B378BE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E2D4-1891-4789-9570-76601575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471C-1E54-C5D0-DC97-A37EC2BB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8C63-9874-81C2-7A61-04A61631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231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9021-C22B-5FFB-6133-361EFA70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FC190-78CD-A0A9-E46C-CFC9D66F5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EC583-2FCE-F408-D7DD-51BD41B2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7A29-EDF9-3D8F-2609-DF76AE64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29D40-AB14-6629-C2BE-5A242357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95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F6E4-765C-B89E-106B-74A4A9CE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29C7B-EA12-A3A4-F862-E11963782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CE35C-87F4-BB34-4BEB-D289BED0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C3A27-C5E9-5F43-12FF-FBC896B2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D604-9737-9495-8158-FD75B013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A7C2-FE86-B0DA-3937-68A83837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26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48DC-0DED-F743-7E72-81A05BC1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F9A28-C392-9D94-EACC-D1D0AECA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B195E-8E7E-AE6C-7234-E80278741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87A57-DACC-BA83-6227-8DC55E600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5D59F-EC67-22FD-DCD1-CB72715D2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189252-7D3F-F4EF-AFCE-90554D2C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4665E-8959-226C-FC0D-0E627386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A4F4B-636F-C0C9-6920-21D64786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79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EE96-52D2-2CAC-AB94-67B1B951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8DB77-8382-E95C-AE4F-12D37BF0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97E25-CBB0-ADB9-98CE-7DCBC269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CAFDD-3237-C35E-F2E5-AEF75B1A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98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DF1FE-5426-DA21-DA63-BB701ED1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5637C-A6FC-B7D4-58C7-1039435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BA28F-8A1C-9325-F390-0DD1ACD6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8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7520-8490-984E-B851-D70AECAD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371C-9FF6-20D5-CDA5-7F955D7D2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220FB-0314-93F3-3CBF-0DE54E3C6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D6294-BB59-A0CC-E572-1573B34A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15D2D-DC8C-AA0F-1620-FBBB3434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E1BFE-37BE-B161-6712-3F6527E6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8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B816-8BF8-53EB-0F4A-16B049C71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F35EC-E970-399D-2146-88C54922D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A8456-76F5-847D-1B70-4FB8C43C6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A481B-094F-6823-EF75-0B7B138A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8CF83-CC4C-A7FF-93AA-838BED7D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84FE6-B4FB-4C4E-A8DD-435821A1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59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F532-2A1D-6074-ED08-F44772DA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AD25C-F1E7-FCC8-9335-38ACFB4DA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B563-6951-88A8-C0BD-40DBC4C1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E5F7D-0C0D-6E8B-61E5-62BFA40F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1F7A-261F-8D21-07D4-05C07D32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092A1-83C0-C860-F989-02DB1C4DA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F524E-A914-4100-B91D-71E2849A3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85D6-D106-10F7-70A7-21D30A8A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E8D7-05D0-5651-6C52-DC625993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5DCA9-308F-D5D0-ED2C-8CFA1519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32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E43AA-C03A-9983-AF2E-4482A068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35589-1312-6242-D36C-23585D8D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1AEC5-1BE3-E6F0-7276-D3BD4371E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8AC17-DA9D-41FD-8030-07B1C47A9E8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C55B3-2B55-AF36-6F4D-AA7132437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9BE3-EFFA-45CC-B830-DE8D7A22F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F8442-85B6-46B1-AC0F-C7B18A3C5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19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#OAWeek2022: Gemeinsam den Weltklimabericht befreien ...">
            <a:extLst>
              <a:ext uri="{FF2B5EF4-FFF2-40B4-BE49-F238E27FC236}">
                <a16:creationId xmlns:a16="http://schemas.microsoft.com/office/drawing/2014/main" id="{9FA43693-A41B-54CD-71F4-1C81EF7DF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922" y="269290"/>
            <a:ext cx="4124325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AD7C05-EBC1-7EEE-AABC-8ADF953FFE72}"/>
              </a:ext>
            </a:extLst>
          </p:cNvPr>
          <p:cNvSpPr txBox="1"/>
          <p:nvPr/>
        </p:nvSpPr>
        <p:spPr>
          <a:xfrm>
            <a:off x="3038914" y="2509240"/>
            <a:ext cx="5740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Knowledge Graph</a:t>
            </a:r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id="{E640B2F5-0AC5-0BD1-2692-6EDB4184F0F2}"/>
              </a:ext>
            </a:extLst>
          </p:cNvPr>
          <p:cNvSpPr/>
          <p:nvPr/>
        </p:nvSpPr>
        <p:spPr>
          <a:xfrm>
            <a:off x="786581" y="3624851"/>
            <a:ext cx="10245213" cy="196646"/>
          </a:xfrm>
          <a:prstGeom prst="mathMinus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00FF5-DE1A-6E6E-2576-9168E515B87E}"/>
              </a:ext>
            </a:extLst>
          </p:cNvPr>
          <p:cNvSpPr txBox="1"/>
          <p:nvPr/>
        </p:nvSpPr>
        <p:spPr>
          <a:xfrm>
            <a:off x="3893574" y="4021393"/>
            <a:ext cx="5240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 : Saniya</a:t>
            </a:r>
            <a:br>
              <a:rPr lang="en-IN" b="1" dirty="0"/>
            </a:br>
            <a:r>
              <a:rPr lang="en-IN" b="1" dirty="0"/>
              <a:t>TOPIC : </a:t>
            </a:r>
            <a:r>
              <a:rPr lang="en-US" b="1" dirty="0"/>
              <a:t>IPCC WG2 – Chapter 10: Asia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2804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C85330-567A-1018-1D82-4A355D739C70}"/>
              </a:ext>
            </a:extLst>
          </p:cNvPr>
          <p:cNvSpPr txBox="1"/>
          <p:nvPr/>
        </p:nvSpPr>
        <p:spPr>
          <a:xfrm>
            <a:off x="2635045" y="786581"/>
            <a:ext cx="8563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Semantic Climate </a:t>
            </a:r>
            <a:r>
              <a:rPr lang="en-US" dirty="0"/>
              <a:t> is an open-source initiative focused on extracting, structuring, and linking climate knowledge from scientific literature.</a:t>
            </a:r>
          </a:p>
          <a:p>
            <a:endParaRPr lang="en-IN" dirty="0"/>
          </a:p>
        </p:txBody>
      </p:sp>
      <p:pic>
        <p:nvPicPr>
          <p:cNvPr id="2050" name="Picture 2" descr="@semanticClimate">
            <a:extLst>
              <a:ext uri="{FF2B5EF4-FFF2-40B4-BE49-F238E27FC236}">
                <a16:creationId xmlns:a16="http://schemas.microsoft.com/office/drawing/2014/main" id="{1D646401-F924-5DD7-86AF-7A1F19F78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47" y="15854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61E600-5101-E7A9-43C6-C891743024E9}"/>
              </a:ext>
            </a:extLst>
          </p:cNvPr>
          <p:cNvSpPr txBox="1"/>
          <p:nvPr/>
        </p:nvSpPr>
        <p:spPr>
          <a:xfrm>
            <a:off x="2635045" y="2943788"/>
            <a:ext cx="103779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transform</a:t>
            </a:r>
            <a:r>
              <a:rPr lang="en-US" dirty="0"/>
              <a:t>:</a:t>
            </a:r>
          </a:p>
          <a:p>
            <a:r>
              <a:rPr lang="en-US" dirty="0"/>
              <a:t>Unstructured research papers</a:t>
            </a:r>
            <a:br>
              <a:rPr lang="en-US" dirty="0"/>
            </a:br>
            <a:r>
              <a:rPr lang="en-US" dirty="0"/>
              <a:t>Into:</a:t>
            </a:r>
          </a:p>
          <a:p>
            <a:r>
              <a:rPr lang="en-US" dirty="0"/>
              <a:t>Organized, machine-readable knowledge resources</a:t>
            </a:r>
          </a:p>
          <a:p>
            <a:pPr lvl="1"/>
            <a:r>
              <a:rPr lang="en-US" dirty="0"/>
              <a:t>Encyclopedias</a:t>
            </a:r>
          </a:p>
          <a:p>
            <a:pPr lvl="1"/>
            <a:r>
              <a:rPr lang="en-US" dirty="0"/>
              <a:t>Knowledge Graphs</a:t>
            </a:r>
          </a:p>
          <a:p>
            <a:endParaRPr lang="en-IN" dirty="0"/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EB68B97B-436D-5742-43E6-11290D620F9E}"/>
              </a:ext>
            </a:extLst>
          </p:cNvPr>
          <p:cNvSpPr/>
          <p:nvPr/>
        </p:nvSpPr>
        <p:spPr>
          <a:xfrm>
            <a:off x="-1969476" y="6320413"/>
            <a:ext cx="16108264" cy="195122"/>
          </a:xfrm>
          <a:prstGeom prst="mathMinu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E2167-8CCC-4F6D-16D4-3297B416E0D1}"/>
              </a:ext>
            </a:extLst>
          </p:cNvPr>
          <p:cNvSpPr txBox="1"/>
          <p:nvPr/>
        </p:nvSpPr>
        <p:spPr>
          <a:xfrm>
            <a:off x="2635045" y="1740688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1"/>
                </a:solidFill>
              </a:rPr>
              <a:t>It 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text mining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Semantic technologies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8BA75-AF11-3E25-4B00-188710EEB3B6}"/>
              </a:ext>
            </a:extLst>
          </p:cNvPr>
          <p:cNvSpPr txBox="1"/>
          <p:nvPr/>
        </p:nvSpPr>
        <p:spPr>
          <a:xfrm>
            <a:off x="2498103" y="4932647"/>
            <a:ext cx="6504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1"/>
                </a:solidFill>
              </a:rPr>
              <a:t>This enables easier discovery and reuse of climate information.</a:t>
            </a:r>
          </a:p>
        </p:txBody>
      </p:sp>
      <p:sp>
        <p:nvSpPr>
          <p:cNvPr id="12" name="AutoShape 2" descr="Generated image">
            <a:extLst>
              <a:ext uri="{FF2B5EF4-FFF2-40B4-BE49-F238E27FC236}">
                <a16:creationId xmlns:a16="http://schemas.microsoft.com/office/drawing/2014/main" id="{09C9BC8E-17C9-FEB4-21E8-B2874AE65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4" descr="Generated image">
            <a:extLst>
              <a:ext uri="{FF2B5EF4-FFF2-40B4-BE49-F238E27FC236}">
                <a16:creationId xmlns:a16="http://schemas.microsoft.com/office/drawing/2014/main" id="{4BE62303-9FAC-106F-85FE-8E541F2EE5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4907FA-5597-7C65-1920-BDF7495B4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203" y="1440263"/>
            <a:ext cx="4534367" cy="331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0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95B163-1690-E250-A422-96D1228D1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6859492" y="5328920"/>
            <a:ext cx="589280" cy="127000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6A6C8B-9B7B-CE44-627F-B55F21CAF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80" y="257192"/>
            <a:ext cx="3396792" cy="56503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1"/>
                </a:solidFill>
              </a:rPr>
              <a:t>work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9025E-39B4-7160-37E3-3A680D046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05" y="160019"/>
            <a:ext cx="5285295" cy="655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7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5D14-F9BB-BD8F-94A5-FEEA6E7D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16C30-0989-B7F6-6510-57C9FFBF2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7819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It:</a:t>
            </a:r>
          </a:p>
          <a:p>
            <a:r>
              <a:rPr lang="en-US" sz="2400" dirty="0"/>
              <a:t>Searches scientific articles</a:t>
            </a:r>
          </a:p>
          <a:p>
            <a:r>
              <a:rPr lang="en-US" sz="2400" dirty="0"/>
              <a:t>Downloads full-text papers</a:t>
            </a:r>
          </a:p>
          <a:p>
            <a:r>
              <a:rPr lang="en-US" sz="2400" dirty="0"/>
              <a:t>Collects metadata</a:t>
            </a:r>
          </a:p>
          <a:p>
            <a:r>
              <a:rPr lang="en-US" sz="2400" dirty="0"/>
              <a:t>Retrieves PMC IDs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Used for:</a:t>
            </a:r>
          </a:p>
          <a:p>
            <a:r>
              <a:rPr lang="en-US" sz="2400" dirty="0"/>
              <a:t>Large-scale research collection</a:t>
            </a:r>
          </a:p>
          <a:p>
            <a:r>
              <a:rPr lang="en-US" sz="2400" dirty="0"/>
              <a:t>Reproducible text-mining workflows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6B04DCA-B329-D34A-457D-E4850233BE44}"/>
              </a:ext>
            </a:extLst>
          </p:cNvPr>
          <p:cNvSpPr/>
          <p:nvPr/>
        </p:nvSpPr>
        <p:spPr>
          <a:xfrm>
            <a:off x="344411" y="365125"/>
            <a:ext cx="3001701" cy="757887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 err="1">
                <a:solidFill>
                  <a:schemeClr val="accent1"/>
                </a:solidFill>
              </a:rPr>
              <a:t>Pygetpapers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68EAB-E365-994B-8A15-F0A2BA72042C}"/>
              </a:ext>
            </a:extLst>
          </p:cNvPr>
          <p:cNvSpPr txBox="1"/>
          <p:nvPr/>
        </p:nvSpPr>
        <p:spPr>
          <a:xfrm>
            <a:off x="4135056" y="1027906"/>
            <a:ext cx="7520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Pygetpapers</a:t>
            </a:r>
            <a:r>
              <a:rPr lang="en-US" sz="2400" dirty="0"/>
              <a:t> is an open-source literature retrieval tool.</a:t>
            </a: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370326-469D-A1E0-C447-F3395F00A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0" b="19036"/>
          <a:stretch>
            <a:fillRect/>
          </a:stretch>
        </p:blipFill>
        <p:spPr>
          <a:xfrm>
            <a:off x="5058136" y="2106844"/>
            <a:ext cx="6768778" cy="271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1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995A3-5C22-BFCF-6519-D9D672CD9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914" y="1269675"/>
            <a:ext cx="11510766" cy="189008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txt2phrases </a:t>
            </a:r>
            <a:r>
              <a:rPr lang="en-US" dirty="0"/>
              <a:t>is a text-mining tool that extracts important </a:t>
            </a:r>
            <a:r>
              <a:rPr lang="en-US" b="1" dirty="0" err="1"/>
              <a:t>keyphrases</a:t>
            </a:r>
            <a:r>
              <a:rPr lang="en-US" dirty="0"/>
              <a:t> from </a:t>
            </a:r>
            <a:r>
              <a:rPr lang="en-US" b="1" dirty="0"/>
              <a:t>large text documents</a:t>
            </a:r>
            <a:r>
              <a:rPr lang="en-US" dirty="0"/>
              <a:t>. In this project, it was used to analyze the cleaned text of IPCC AR6 WG2 Chapter 10 (Asia) and identify major climate-related concepts such as climate vulnerability, sea-level rise, extreme heat, and adaptation strategies. The extracted phrases were then converted into structured formats (CSV and XML) for building the encyclopedia and knowledge graph.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2A27BD-CAB5-3B7A-8BBC-903D11143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15" y="259811"/>
            <a:ext cx="3024851" cy="729586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accent1"/>
                </a:solidFill>
              </a:rPr>
              <a:t>Txt2phrases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319AD9-1F8C-6C94-ACF9-871DF89B8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9" t="32889" r="-567" b="10666"/>
          <a:stretch>
            <a:fillRect/>
          </a:stretch>
        </p:blipFill>
        <p:spPr>
          <a:xfrm>
            <a:off x="1304547" y="3419571"/>
            <a:ext cx="9207500" cy="3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8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E8117F-80C7-38A0-9DB0-895173731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73" t="9806" r="895" b="6549"/>
          <a:stretch>
            <a:fillRect/>
          </a:stretch>
        </p:blipFill>
        <p:spPr>
          <a:xfrm>
            <a:off x="238760" y="1249680"/>
            <a:ext cx="11597640" cy="545592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F2D6D225-01C2-D60E-910B-E3ECE0C3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243205"/>
            <a:ext cx="3247663" cy="653447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 err="1">
                <a:solidFill>
                  <a:schemeClr val="accent1"/>
                </a:solidFill>
              </a:rPr>
              <a:t>Encyclopedia</a:t>
            </a:r>
            <a:endParaRPr lang="en-IN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3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A57964-CE15-2C99-0BF1-9D2C60B4B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7" t="11281" r="2192" b="7231"/>
          <a:stretch>
            <a:fillRect/>
          </a:stretch>
        </p:blipFill>
        <p:spPr>
          <a:xfrm>
            <a:off x="0" y="1005840"/>
            <a:ext cx="12263120" cy="58521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2009D3-0F9C-4AA9-E24A-957D1926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1" y="260129"/>
            <a:ext cx="3489960" cy="61023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1"/>
                </a:solidFill>
              </a:rPr>
              <a:t>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184467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work flow</vt:lpstr>
      <vt:lpstr>PowerPoint Presentation</vt:lpstr>
      <vt:lpstr>Txt2phrases</vt:lpstr>
      <vt:lpstr>Encyclopedia</vt:lpstr>
      <vt:lpstr>Knowledge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saniya yadav</dc:creator>
  <cp:lastModifiedBy>saniya yadav</cp:lastModifiedBy>
  <cp:revision>1</cp:revision>
  <dcterms:created xsi:type="dcterms:W3CDTF">2026-02-27T11:40:26Z</dcterms:created>
  <dcterms:modified xsi:type="dcterms:W3CDTF">2026-02-27T11:40:27Z</dcterms:modified>
</cp:coreProperties>
</file>