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0" r:id="rId4"/>
    <p:sldId id="262" r:id="rId5"/>
    <p:sldId id="263" r:id="rId6"/>
    <p:sldId id="258" r:id="rId7"/>
    <p:sldId id="257"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8"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CFBA-FD26-1F6A-6283-DA4236726C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352C11-5F1F-03D5-3133-952960A433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474B8E-99EF-C0B5-0A29-4886A3177C55}"/>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4ED5A21B-29EF-5DFA-5419-C75FCDBA6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0843D-DF9E-4003-812E-2BBC33862F5C}"/>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188165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F4FB0-246D-F96D-D62F-8D7308CE02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D1F427-7741-A878-93A0-FA4A70270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7EEF74-B029-B3FC-AB4D-965306EFAC10}"/>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B9EB103A-EA5F-D5DC-5E5E-1F71BE189B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D8E55B-4697-DA9E-E19A-211F51B87678}"/>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3370089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956D-1B0F-88B9-108C-990D51096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5DE3FC-7E14-47C6-8CE6-890BD169AC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8EA537-2DB2-80BA-C9ED-A7CD5C2FBC99}"/>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F0DBB2AC-FBE2-D44A-34FB-6127DA86D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D79036-F22E-66A6-8B40-FB185DD99F37}"/>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1659436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4467-B90D-9ADF-DBBC-4CA6EE18EC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BA96C2-E6CB-46EE-65CC-52B8399BEA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595BD8-DF93-0A70-97A2-E6E06F2766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1F70D6-58A0-3FC1-1ABD-C65DB10E7773}"/>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6" name="Footer Placeholder 5">
            <a:extLst>
              <a:ext uri="{FF2B5EF4-FFF2-40B4-BE49-F238E27FC236}">
                <a16:creationId xmlns:a16="http://schemas.microsoft.com/office/drawing/2014/main" id="{4438B5D4-787E-A0F9-EFE4-0D6B2179BF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D916BB-C387-A4BB-2E3E-1BD5D485AEF5}"/>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428711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C8123-45CC-0D80-AB0D-8FC13BC015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A6AEE5-18A1-B22C-1975-F95EBAA780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5B7A88-211B-D671-BF17-B18C6034A7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C3AC53-58BC-1CEA-8508-99B0799425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8002C-2DC4-4BBC-5019-750C67E5DE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6A10E2-296E-B67B-C172-B0667A971558}"/>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8" name="Footer Placeholder 7">
            <a:extLst>
              <a:ext uri="{FF2B5EF4-FFF2-40B4-BE49-F238E27FC236}">
                <a16:creationId xmlns:a16="http://schemas.microsoft.com/office/drawing/2014/main" id="{7B0C32AD-C5B8-F1CA-6FB3-F835D53211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8F3E4-78B5-A8A0-8432-C87F76DA7345}"/>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2720592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AF05-4C6D-725B-50E2-8B596C618A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D5615D-787F-370B-BDB2-B25D9F5451EB}"/>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4" name="Footer Placeholder 3">
            <a:extLst>
              <a:ext uri="{FF2B5EF4-FFF2-40B4-BE49-F238E27FC236}">
                <a16:creationId xmlns:a16="http://schemas.microsoft.com/office/drawing/2014/main" id="{5F15B94A-C702-BCE6-CD47-9EC06C2BD3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AB343C-AF07-B9BD-F007-B5EED5CD18E0}"/>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1852462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9D5F8-06F6-E2DE-49B9-56B6AA265E9C}"/>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3" name="Footer Placeholder 2">
            <a:extLst>
              <a:ext uri="{FF2B5EF4-FFF2-40B4-BE49-F238E27FC236}">
                <a16:creationId xmlns:a16="http://schemas.microsoft.com/office/drawing/2014/main" id="{A56AB3AD-2705-EF12-61B6-4E3D84DF4A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FFAD38-7A06-AB17-67E3-E877CFF16F27}"/>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2327866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3863C-71A2-BEFE-D2BE-48874D427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704268-CEF0-6AC7-7E77-9201155E2C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2292A2-872E-7939-CA58-F37B88D37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41595-50C7-2044-BD97-28813AAB3C5D}"/>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6" name="Footer Placeholder 5">
            <a:extLst>
              <a:ext uri="{FF2B5EF4-FFF2-40B4-BE49-F238E27FC236}">
                <a16:creationId xmlns:a16="http://schemas.microsoft.com/office/drawing/2014/main" id="{F2999D5A-7CCC-2753-572F-AACEBB248F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6A28CB-ED93-6941-A191-7C3F53E024E3}"/>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323532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C6BB-1986-C8F4-0AAA-7742B8919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DEEB3F-12CE-2089-BBAE-AB12DDEC12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09E7BA-C3A6-5B79-2677-B62F30CAF8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3E4FF-DF1B-260D-BA9D-457852FB7F40}"/>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6" name="Footer Placeholder 5">
            <a:extLst>
              <a:ext uri="{FF2B5EF4-FFF2-40B4-BE49-F238E27FC236}">
                <a16:creationId xmlns:a16="http://schemas.microsoft.com/office/drawing/2014/main" id="{9412B3D6-BCC5-BFFE-085D-812CE21120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18657E-199C-5BA9-CFFA-AF355FCBB6EF}"/>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312478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71B6-C85B-0AA1-DB28-E900399F9D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C99BE3-672D-B0D9-0044-0B608BDC51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B47376-EE50-742D-90E9-95341D85977D}"/>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13ACB2D1-4547-ACED-5381-1BC4F225D8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0B4A91-A8A2-B139-6415-DB77CB420EC2}"/>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179623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9E5FD-6845-4E8F-C86C-37465EF538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F3E7FD-CCAA-08B0-73E6-AFB1F2ACD8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3D6403-F085-D7D2-F7A3-6AD0C81BB38B}"/>
              </a:ext>
            </a:extLst>
          </p:cNvPr>
          <p:cNvSpPr>
            <a:spLocks noGrp="1"/>
          </p:cNvSpPr>
          <p:nvPr>
            <p:ph type="dt" sz="half" idx="10"/>
          </p:nvPr>
        </p:nvSpPr>
        <p:spPr/>
        <p:txBody>
          <a:body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82464FCB-4764-83D9-C3AA-A8531AC45B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26281-982B-BD81-8F83-0367E89ECC25}"/>
              </a:ext>
            </a:extLst>
          </p:cNvPr>
          <p:cNvSpPr>
            <a:spLocks noGrp="1"/>
          </p:cNvSpPr>
          <p:nvPr>
            <p:ph type="sldNum" sz="quarter" idx="12"/>
          </p:nvPr>
        </p:nvSpPr>
        <p:spPr/>
        <p:txBody>
          <a:bodyPr/>
          <a:lstStyle/>
          <a:p>
            <a:fld id="{62405A24-27EE-4115-8905-769F3D09D877}" type="slidenum">
              <a:rPr lang="en-IN" smtClean="0"/>
              <a:t>‹#›</a:t>
            </a:fld>
            <a:endParaRPr lang="en-IN"/>
          </a:p>
        </p:txBody>
      </p:sp>
    </p:spTree>
    <p:extLst>
      <p:ext uri="{BB962C8B-B14F-4D97-AF65-F5344CB8AC3E}">
        <p14:creationId xmlns:p14="http://schemas.microsoft.com/office/powerpoint/2010/main" val="108586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7C5EF-26A4-282B-766B-ACA1B05BE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5D7490-C4C1-B712-7835-EF497516C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7D72C-C9F4-74C4-1A37-0DD98721BE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ACE786-2FFB-43F5-97F4-24EA0BF53103}" type="datetimeFigureOut">
              <a:rPr lang="en-IN" smtClean="0"/>
              <a:t>25-02-2026</a:t>
            </a:fld>
            <a:endParaRPr lang="en-IN"/>
          </a:p>
        </p:txBody>
      </p:sp>
      <p:sp>
        <p:nvSpPr>
          <p:cNvPr id="5" name="Footer Placeholder 4">
            <a:extLst>
              <a:ext uri="{FF2B5EF4-FFF2-40B4-BE49-F238E27FC236}">
                <a16:creationId xmlns:a16="http://schemas.microsoft.com/office/drawing/2014/main" id="{D4B5D554-A87E-5CD7-FD45-4B9041064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3E7D65-3FE7-1091-E195-E92DBF5F4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05A24-27EE-4115-8905-769F3D09D877}" type="slidenum">
              <a:rPr lang="en-IN" smtClean="0"/>
              <a:t>‹#›</a:t>
            </a:fld>
            <a:endParaRPr lang="en-IN"/>
          </a:p>
        </p:txBody>
      </p:sp>
    </p:spTree>
    <p:extLst>
      <p:ext uri="{BB962C8B-B14F-4D97-AF65-F5344CB8AC3E}">
        <p14:creationId xmlns:p14="http://schemas.microsoft.com/office/powerpoint/2010/main" val="393381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semanticClimate/internship_sC/blob/pushpa/carbon/workflow.svg" TargetMode="Externa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semanticClimate/internship_sC/blob/pushpa/carbon/encyclopedia.html"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semanticClimate/internship_sC/blob/pushpa/carbon/kg.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AWeek2022: Gemeinsam den Weltklimabericht befreien ...">
            <a:extLst>
              <a:ext uri="{FF2B5EF4-FFF2-40B4-BE49-F238E27FC236}">
                <a16:creationId xmlns:a16="http://schemas.microsoft.com/office/drawing/2014/main" id="{9FA43693-A41B-54CD-71F4-1C81EF7DF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5922" y="269290"/>
            <a:ext cx="4124325" cy="857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0AD7C05-EBC1-7EEE-AABC-8ADF953FFE72}"/>
              </a:ext>
            </a:extLst>
          </p:cNvPr>
          <p:cNvSpPr txBox="1"/>
          <p:nvPr/>
        </p:nvSpPr>
        <p:spPr>
          <a:xfrm>
            <a:off x="3785419" y="2505079"/>
            <a:ext cx="4463845" cy="1015663"/>
          </a:xfrm>
          <a:prstGeom prst="rect">
            <a:avLst/>
          </a:prstGeom>
          <a:noFill/>
        </p:spPr>
        <p:txBody>
          <a:bodyPr wrap="square" rtlCol="0">
            <a:spAutoFit/>
          </a:bodyPr>
          <a:lstStyle/>
          <a:p>
            <a:r>
              <a:rPr lang="en-IN" sz="6000" dirty="0" err="1"/>
              <a:t>Encyclopedia</a:t>
            </a:r>
            <a:endParaRPr lang="en-IN" sz="6000" dirty="0"/>
          </a:p>
        </p:txBody>
      </p:sp>
      <p:sp>
        <p:nvSpPr>
          <p:cNvPr id="4" name="Minus Sign 3">
            <a:extLst>
              <a:ext uri="{FF2B5EF4-FFF2-40B4-BE49-F238E27FC236}">
                <a16:creationId xmlns:a16="http://schemas.microsoft.com/office/drawing/2014/main" id="{E640B2F5-0AC5-0BD1-2692-6EDB4184F0F2}"/>
              </a:ext>
            </a:extLst>
          </p:cNvPr>
          <p:cNvSpPr/>
          <p:nvPr/>
        </p:nvSpPr>
        <p:spPr>
          <a:xfrm>
            <a:off x="786581" y="3624851"/>
            <a:ext cx="10245213" cy="196646"/>
          </a:xfrm>
          <a:prstGeom prst="mathMinus">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6200FF5-DE1A-6E6E-2576-9168E515B87E}"/>
              </a:ext>
            </a:extLst>
          </p:cNvPr>
          <p:cNvSpPr txBox="1"/>
          <p:nvPr/>
        </p:nvSpPr>
        <p:spPr>
          <a:xfrm>
            <a:off x="3893574" y="4021393"/>
            <a:ext cx="5240595" cy="646331"/>
          </a:xfrm>
          <a:prstGeom prst="rect">
            <a:avLst/>
          </a:prstGeom>
          <a:noFill/>
        </p:spPr>
        <p:txBody>
          <a:bodyPr wrap="square" rtlCol="0">
            <a:spAutoFit/>
          </a:bodyPr>
          <a:lstStyle/>
          <a:p>
            <a:r>
              <a:rPr lang="en-IN" b="1" dirty="0"/>
              <a:t>NAME : Pushpa </a:t>
            </a:r>
            <a:r>
              <a:rPr lang="en-IN" b="1" dirty="0" err="1"/>
              <a:t>valli</a:t>
            </a:r>
            <a:br>
              <a:rPr lang="en-IN" b="1" dirty="0"/>
            </a:br>
            <a:r>
              <a:rPr lang="en-IN" b="1" dirty="0"/>
              <a:t>TOPIC : India’s Net – zero carbon </a:t>
            </a:r>
            <a:r>
              <a:rPr lang="en-IN" b="1" dirty="0" err="1"/>
              <a:t>emissons</a:t>
            </a:r>
            <a:r>
              <a:rPr lang="en-IN" b="1" dirty="0"/>
              <a:t> by 2070</a:t>
            </a:r>
          </a:p>
        </p:txBody>
      </p:sp>
    </p:spTree>
    <p:extLst>
      <p:ext uri="{BB962C8B-B14F-4D97-AF65-F5344CB8AC3E}">
        <p14:creationId xmlns:p14="http://schemas.microsoft.com/office/powerpoint/2010/main" val="628042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C85330-567A-1018-1D82-4A355D739C70}"/>
              </a:ext>
            </a:extLst>
          </p:cNvPr>
          <p:cNvSpPr txBox="1"/>
          <p:nvPr/>
        </p:nvSpPr>
        <p:spPr>
          <a:xfrm>
            <a:off x="2635045" y="786581"/>
            <a:ext cx="8563897" cy="1508105"/>
          </a:xfrm>
          <a:prstGeom prst="rect">
            <a:avLst/>
          </a:prstGeom>
          <a:noFill/>
        </p:spPr>
        <p:txBody>
          <a:bodyPr wrap="square">
            <a:spAutoFit/>
          </a:bodyPr>
          <a:lstStyle/>
          <a:p>
            <a:r>
              <a:rPr lang="en-US" sz="2000" b="1" dirty="0"/>
              <a:t>Semantic Climate </a:t>
            </a:r>
            <a:r>
              <a:rPr lang="en-US" dirty="0"/>
              <a:t>is an open-source initiative focused on extracting, structuring, and linking climate knowledge from scientific literature. It uses automated text-mining and semantic technologies to transform unstructured research papers into organized, machine-readable knowledge resources such as encyclopedias and knowledge graphs, enabling easier discovery and reuse of climate information.</a:t>
            </a:r>
            <a:endParaRPr lang="en-IN" dirty="0"/>
          </a:p>
        </p:txBody>
      </p:sp>
      <p:pic>
        <p:nvPicPr>
          <p:cNvPr id="2050" name="Picture 2" descr="@semanticClimate">
            <a:extLst>
              <a:ext uri="{FF2B5EF4-FFF2-40B4-BE49-F238E27FC236}">
                <a16:creationId xmlns:a16="http://schemas.microsoft.com/office/drawing/2014/main" id="{1D646401-F924-5DD7-86AF-7A1F19F78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47" y="15854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D842E1-EE67-0FD1-618B-66F3C59BF9B2}"/>
              </a:ext>
            </a:extLst>
          </p:cNvPr>
          <p:cNvSpPr txBox="1"/>
          <p:nvPr/>
        </p:nvSpPr>
        <p:spPr>
          <a:xfrm>
            <a:off x="820992" y="2808989"/>
            <a:ext cx="10515601" cy="1231106"/>
          </a:xfrm>
          <a:prstGeom prst="rect">
            <a:avLst/>
          </a:prstGeom>
          <a:noFill/>
        </p:spPr>
        <p:txBody>
          <a:bodyPr wrap="square">
            <a:spAutoFit/>
          </a:bodyPr>
          <a:lstStyle/>
          <a:p>
            <a:r>
              <a:rPr lang="en-US" sz="2000" b="1" dirty="0"/>
              <a:t>Why Semantic Climate?</a:t>
            </a:r>
            <a:br>
              <a:rPr lang="en-US" dirty="0"/>
            </a:br>
            <a:r>
              <a:rPr lang="en-US" dirty="0"/>
              <a:t>Climate research is vast and scattered across publications, making knowledge hard to access and integrate. Semantic Climate automatically extracts and structures key concepts and relationships, creating searchable knowledge that supports interdisciplinary research and evidence-based decisions.</a:t>
            </a:r>
            <a:endParaRPr lang="en-IN" dirty="0"/>
          </a:p>
        </p:txBody>
      </p:sp>
      <p:sp>
        <p:nvSpPr>
          <p:cNvPr id="9" name="TextBox 8">
            <a:extLst>
              <a:ext uri="{FF2B5EF4-FFF2-40B4-BE49-F238E27FC236}">
                <a16:creationId xmlns:a16="http://schemas.microsoft.com/office/drawing/2014/main" id="{2C61E600-5101-E7A9-43C6-C891743024E9}"/>
              </a:ext>
            </a:extLst>
          </p:cNvPr>
          <p:cNvSpPr txBox="1"/>
          <p:nvPr/>
        </p:nvSpPr>
        <p:spPr>
          <a:xfrm>
            <a:off x="820992" y="4343863"/>
            <a:ext cx="10377950" cy="1231106"/>
          </a:xfrm>
          <a:prstGeom prst="rect">
            <a:avLst/>
          </a:prstGeom>
          <a:noFill/>
        </p:spPr>
        <p:txBody>
          <a:bodyPr wrap="square">
            <a:spAutoFit/>
          </a:bodyPr>
          <a:lstStyle/>
          <a:p>
            <a:r>
              <a:rPr lang="en-IN" dirty="0"/>
              <a:t>🌍</a:t>
            </a:r>
            <a:r>
              <a:rPr lang="en-US" sz="2000" b="1" dirty="0"/>
              <a:t>Contribution to the World</a:t>
            </a:r>
            <a:br>
              <a:rPr lang="en-US" dirty="0"/>
            </a:br>
            <a:r>
              <a:rPr lang="en-US" dirty="0"/>
              <a:t>Semantic Climate democratizes climate knowledge by making scientific insights openly accessible and connected. It enables researchers, educators, and policymakers to use structured climate intelligence for better collaboration and informed global climate action.</a:t>
            </a:r>
            <a:endParaRPr lang="en-IN" dirty="0"/>
          </a:p>
        </p:txBody>
      </p:sp>
      <p:sp>
        <p:nvSpPr>
          <p:cNvPr id="10" name="Minus Sign 9">
            <a:extLst>
              <a:ext uri="{FF2B5EF4-FFF2-40B4-BE49-F238E27FC236}">
                <a16:creationId xmlns:a16="http://schemas.microsoft.com/office/drawing/2014/main" id="{EB68B97B-436D-5742-43E6-11290D620F9E}"/>
              </a:ext>
            </a:extLst>
          </p:cNvPr>
          <p:cNvSpPr/>
          <p:nvPr/>
        </p:nvSpPr>
        <p:spPr>
          <a:xfrm>
            <a:off x="-1969476" y="6320413"/>
            <a:ext cx="16108264" cy="195122"/>
          </a:xfrm>
          <a:prstGeom prst="mathMinu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802801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hlinkClick r:id="rId2"/>
            <a:extLst>
              <a:ext uri="{FF2B5EF4-FFF2-40B4-BE49-F238E27FC236}">
                <a16:creationId xmlns:a16="http://schemas.microsoft.com/office/drawing/2014/main" id="{ED19D215-7306-A4EC-A730-1CAF31037B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01235" y="147484"/>
            <a:ext cx="5467721" cy="6563032"/>
          </a:xfrm>
          <a:prstGeom prst="rect">
            <a:avLst/>
          </a:prstGeom>
        </p:spPr>
      </p:pic>
      <p:sp>
        <p:nvSpPr>
          <p:cNvPr id="5" name="Arrow: Pentagon 4">
            <a:extLst>
              <a:ext uri="{FF2B5EF4-FFF2-40B4-BE49-F238E27FC236}">
                <a16:creationId xmlns:a16="http://schemas.microsoft.com/office/drawing/2014/main" id="{1B6A6C8B-9B7B-CE44-627F-B55F21CAF134}"/>
              </a:ext>
            </a:extLst>
          </p:cNvPr>
          <p:cNvSpPr/>
          <p:nvPr/>
        </p:nvSpPr>
        <p:spPr>
          <a:xfrm>
            <a:off x="91845" y="140677"/>
            <a:ext cx="3064747" cy="571500"/>
          </a:xfrm>
          <a:prstGeom prst="homePlat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800" b="1" dirty="0" err="1">
                <a:solidFill>
                  <a:schemeClr val="tx1"/>
                </a:solidFill>
              </a:rPr>
              <a:t>Grapviz</a:t>
            </a:r>
            <a:r>
              <a:rPr lang="en-IN" sz="2800" b="1" dirty="0">
                <a:solidFill>
                  <a:schemeClr val="tx1"/>
                </a:solidFill>
              </a:rPr>
              <a:t> work flow</a:t>
            </a:r>
          </a:p>
        </p:txBody>
      </p:sp>
      <p:sp>
        <p:nvSpPr>
          <p:cNvPr id="6" name="Arrow: Chevron 5">
            <a:extLst>
              <a:ext uri="{FF2B5EF4-FFF2-40B4-BE49-F238E27FC236}">
                <a16:creationId xmlns:a16="http://schemas.microsoft.com/office/drawing/2014/main" id="{7F4B6C70-7791-238A-9C22-BE73C342A26D}"/>
              </a:ext>
            </a:extLst>
          </p:cNvPr>
          <p:cNvSpPr/>
          <p:nvPr/>
        </p:nvSpPr>
        <p:spPr>
          <a:xfrm>
            <a:off x="3037674" y="140677"/>
            <a:ext cx="648929" cy="571500"/>
          </a:xfrm>
          <a:prstGeom prst="chevron">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40130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36B04DCA-B329-D34A-457D-E4850233BE44}"/>
              </a:ext>
            </a:extLst>
          </p:cNvPr>
          <p:cNvSpPr/>
          <p:nvPr/>
        </p:nvSpPr>
        <p:spPr>
          <a:xfrm>
            <a:off x="91846" y="140677"/>
            <a:ext cx="2229324" cy="571500"/>
          </a:xfrm>
          <a:prstGeom prst="homePlat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800" b="1" dirty="0" err="1">
                <a:solidFill>
                  <a:schemeClr val="tx1"/>
                </a:solidFill>
              </a:rPr>
              <a:t>pygetpapers</a:t>
            </a:r>
            <a:endParaRPr lang="en-IN" sz="2800" b="1" dirty="0">
              <a:solidFill>
                <a:schemeClr val="tx1"/>
              </a:solidFill>
            </a:endParaRPr>
          </a:p>
        </p:txBody>
      </p:sp>
      <p:sp>
        <p:nvSpPr>
          <p:cNvPr id="3" name="Arrow: Chevron 2">
            <a:extLst>
              <a:ext uri="{FF2B5EF4-FFF2-40B4-BE49-F238E27FC236}">
                <a16:creationId xmlns:a16="http://schemas.microsoft.com/office/drawing/2014/main" id="{E7BA248C-39D3-C4EA-D05E-1731DEEB039F}"/>
              </a:ext>
            </a:extLst>
          </p:cNvPr>
          <p:cNvSpPr/>
          <p:nvPr/>
        </p:nvSpPr>
        <p:spPr>
          <a:xfrm>
            <a:off x="2243854" y="140677"/>
            <a:ext cx="648929" cy="571500"/>
          </a:xfrm>
          <a:prstGeom prst="chevron">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026" name="Picture 2">
            <a:extLst>
              <a:ext uri="{FF2B5EF4-FFF2-40B4-BE49-F238E27FC236}">
                <a16:creationId xmlns:a16="http://schemas.microsoft.com/office/drawing/2014/main" id="{EEF02B1F-1E01-FD4E-6BEB-0CA94E8C8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812" y="3709583"/>
            <a:ext cx="3096394" cy="22361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BE61D6E-9DE0-9C83-EC52-B20042AA4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878" y="3609024"/>
            <a:ext cx="2236113" cy="22361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A1FB165-26BE-738D-23EA-8184CF4CA8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0992" y="3609024"/>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AB924B87-0D75-7A9B-4872-0D75781155A1}"/>
              </a:ext>
            </a:extLst>
          </p:cNvPr>
          <p:cNvSpPr/>
          <p:nvPr/>
        </p:nvSpPr>
        <p:spPr>
          <a:xfrm>
            <a:off x="4902387" y="4746522"/>
            <a:ext cx="1337187" cy="45228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550E28E-885F-9BC2-2788-CD621031C11A}"/>
              </a:ext>
            </a:extLst>
          </p:cNvPr>
          <p:cNvSpPr txBox="1"/>
          <p:nvPr/>
        </p:nvSpPr>
        <p:spPr>
          <a:xfrm>
            <a:off x="1014002" y="1012863"/>
            <a:ext cx="10656887" cy="707886"/>
          </a:xfrm>
          <a:prstGeom prst="rect">
            <a:avLst/>
          </a:prstGeom>
          <a:noFill/>
        </p:spPr>
        <p:txBody>
          <a:bodyPr wrap="square">
            <a:spAutoFit/>
          </a:bodyPr>
          <a:lstStyle/>
          <a:p>
            <a:r>
              <a:rPr lang="en-US" sz="2000" dirty="0" err="1"/>
              <a:t>pygetpapers</a:t>
            </a:r>
            <a:r>
              <a:rPr lang="en-US" sz="2000" dirty="0"/>
              <a:t> is an open-source literature retrieval tool that automatically searches and downloads scientific articles and metadata from PubMed Central based on user-defined research queries.</a:t>
            </a:r>
            <a:endParaRPr lang="en-IN" sz="2000" dirty="0"/>
          </a:p>
        </p:txBody>
      </p:sp>
      <p:sp>
        <p:nvSpPr>
          <p:cNvPr id="8" name="TextBox 7">
            <a:extLst>
              <a:ext uri="{FF2B5EF4-FFF2-40B4-BE49-F238E27FC236}">
                <a16:creationId xmlns:a16="http://schemas.microsoft.com/office/drawing/2014/main" id="{8246FF92-556C-573D-C5D2-F39AFED764CE}"/>
              </a:ext>
            </a:extLst>
          </p:cNvPr>
          <p:cNvSpPr txBox="1"/>
          <p:nvPr/>
        </p:nvSpPr>
        <p:spPr>
          <a:xfrm>
            <a:off x="1440812" y="1892566"/>
            <a:ext cx="7381307" cy="707886"/>
          </a:xfrm>
          <a:prstGeom prst="rect">
            <a:avLst/>
          </a:prstGeom>
          <a:noFill/>
        </p:spPr>
        <p:txBody>
          <a:bodyPr wrap="square">
            <a:spAutoFit/>
          </a:bodyPr>
          <a:lstStyle/>
          <a:p>
            <a:pPr marL="285750" indent="-285750">
              <a:buFont typeface="Wingdings" panose="05000000000000000000" pitchFamily="2" charset="2"/>
              <a:buChar char="§"/>
            </a:pPr>
            <a:r>
              <a:rPr lang="en-US" sz="2000" dirty="0"/>
              <a:t>Enables rapid, large-scale collection of relevant research papers with PMC IDs for reproducible text-mining workflows.</a:t>
            </a:r>
            <a:endParaRPr lang="en-IN" sz="2000" dirty="0"/>
          </a:p>
        </p:txBody>
      </p:sp>
      <p:sp>
        <p:nvSpPr>
          <p:cNvPr id="5" name="Minus Sign 4">
            <a:extLst>
              <a:ext uri="{FF2B5EF4-FFF2-40B4-BE49-F238E27FC236}">
                <a16:creationId xmlns:a16="http://schemas.microsoft.com/office/drawing/2014/main" id="{25DF3078-D583-0F1E-801F-A5AC8AD41492}"/>
              </a:ext>
            </a:extLst>
          </p:cNvPr>
          <p:cNvSpPr/>
          <p:nvPr/>
        </p:nvSpPr>
        <p:spPr>
          <a:xfrm>
            <a:off x="-1969476" y="6320413"/>
            <a:ext cx="16108264" cy="195122"/>
          </a:xfrm>
          <a:prstGeom prst="mathMinu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166544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B0614601-6CD7-BF15-0E91-50D42A5BF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914" y="4537006"/>
            <a:ext cx="735370" cy="65501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1D83706A-8370-65A1-8CA6-521393606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193" y="5192016"/>
            <a:ext cx="998333" cy="889237"/>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5DD6BEB4-FF9C-4950-F167-9A377B8252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575" y="3933674"/>
            <a:ext cx="1585270" cy="141203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253F58B1-2B06-12B3-F5BE-C1E9EC528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1580945" y="5192016"/>
            <a:ext cx="1130795" cy="1007223"/>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a:extLst>
              <a:ext uri="{FF2B5EF4-FFF2-40B4-BE49-F238E27FC236}">
                <a16:creationId xmlns:a16="http://schemas.microsoft.com/office/drawing/2014/main" id="{6646BE06-7960-03B7-F8D9-463D8FD903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2129595" y="4338486"/>
            <a:ext cx="883395" cy="786859"/>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The excel file icon isolated on white background">
            <a:extLst>
              <a:ext uri="{FF2B5EF4-FFF2-40B4-BE49-F238E27FC236}">
                <a16:creationId xmlns:a16="http://schemas.microsoft.com/office/drawing/2014/main" id="{794AD257-A7B5-E569-B85D-42112031F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318" y="4379507"/>
            <a:ext cx="628035" cy="628035"/>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The excel file icon isolated on white background">
            <a:extLst>
              <a:ext uri="{FF2B5EF4-FFF2-40B4-BE49-F238E27FC236}">
                <a16:creationId xmlns:a16="http://schemas.microsoft.com/office/drawing/2014/main" id="{B7CE2EE1-80A1-A176-1CD9-BFF47F8A9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758" y="5110027"/>
            <a:ext cx="543232" cy="543232"/>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The excel file icon isolated on white background">
            <a:extLst>
              <a:ext uri="{FF2B5EF4-FFF2-40B4-BE49-F238E27FC236}">
                <a16:creationId xmlns:a16="http://schemas.microsoft.com/office/drawing/2014/main" id="{B0AC19BD-C2A1-1FE4-5586-5F0140FD5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4424549" y="5146195"/>
            <a:ext cx="1149567" cy="1030576"/>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38" descr="The excel file icon isolated on white background">
            <a:extLst>
              <a:ext uri="{FF2B5EF4-FFF2-40B4-BE49-F238E27FC236}">
                <a16:creationId xmlns:a16="http://schemas.microsoft.com/office/drawing/2014/main" id="{8DF49FCE-50C2-EC27-4334-AF154DDCD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4894546" y="4145808"/>
            <a:ext cx="883394" cy="813619"/>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The excel file icon isolated on white background">
            <a:extLst>
              <a:ext uri="{FF2B5EF4-FFF2-40B4-BE49-F238E27FC236}">
                <a16:creationId xmlns:a16="http://schemas.microsoft.com/office/drawing/2014/main" id="{A5BC858B-41C4-69B3-8345-910735D8F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930" y="4995596"/>
            <a:ext cx="702056" cy="702056"/>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The excel file icon isolated on white background">
            <a:extLst>
              <a:ext uri="{FF2B5EF4-FFF2-40B4-BE49-F238E27FC236}">
                <a16:creationId xmlns:a16="http://schemas.microsoft.com/office/drawing/2014/main" id="{EF3A9CB5-6599-2C73-1A21-04C878AF2F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9251" y="4326312"/>
            <a:ext cx="1639766" cy="16397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6">
            <a:extLst>
              <a:ext uri="{FF2B5EF4-FFF2-40B4-BE49-F238E27FC236}">
                <a16:creationId xmlns:a16="http://schemas.microsoft.com/office/drawing/2014/main" id="{442AD1F0-D4CB-FE16-5924-03A2EBC48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6135" y="4252340"/>
            <a:ext cx="1900579" cy="1692888"/>
          </a:xfrm>
          <a:prstGeom prst="rect">
            <a:avLst/>
          </a:prstGeom>
          <a:noFill/>
          <a:extLst>
            <a:ext uri="{909E8E84-426E-40DD-AFC4-6F175D3DCCD1}">
              <a14:hiddenFill xmlns:a14="http://schemas.microsoft.com/office/drawing/2010/main">
                <a:solidFill>
                  <a:srgbClr val="FFFFFF"/>
                </a:solidFill>
              </a14:hiddenFill>
            </a:ext>
          </a:extLst>
        </p:spPr>
      </p:pic>
      <p:sp>
        <p:nvSpPr>
          <p:cNvPr id="6" name="Arrow: Right 5">
            <a:extLst>
              <a:ext uri="{FF2B5EF4-FFF2-40B4-BE49-F238E27FC236}">
                <a16:creationId xmlns:a16="http://schemas.microsoft.com/office/drawing/2014/main" id="{5FC1FD65-DD4D-4AC3-B34B-A83791C9E1DE}"/>
              </a:ext>
            </a:extLst>
          </p:cNvPr>
          <p:cNvSpPr/>
          <p:nvPr/>
        </p:nvSpPr>
        <p:spPr>
          <a:xfrm>
            <a:off x="2825014" y="5125345"/>
            <a:ext cx="869125" cy="33814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F4296B70-2962-940C-0B84-A6F85DC0A9EB}"/>
              </a:ext>
            </a:extLst>
          </p:cNvPr>
          <p:cNvSpPr/>
          <p:nvPr/>
        </p:nvSpPr>
        <p:spPr>
          <a:xfrm>
            <a:off x="6454246" y="5007541"/>
            <a:ext cx="988991" cy="33816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3DC37CE8-25DC-CF7C-7323-845AE7E88319}"/>
              </a:ext>
            </a:extLst>
          </p:cNvPr>
          <p:cNvSpPr/>
          <p:nvPr/>
        </p:nvSpPr>
        <p:spPr>
          <a:xfrm>
            <a:off x="9254548" y="4927335"/>
            <a:ext cx="976867" cy="33816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Pentagon 9">
            <a:extLst>
              <a:ext uri="{FF2B5EF4-FFF2-40B4-BE49-F238E27FC236}">
                <a16:creationId xmlns:a16="http://schemas.microsoft.com/office/drawing/2014/main" id="{B249A780-C439-1228-8EF1-E08DC6157520}"/>
              </a:ext>
            </a:extLst>
          </p:cNvPr>
          <p:cNvSpPr/>
          <p:nvPr/>
        </p:nvSpPr>
        <p:spPr>
          <a:xfrm>
            <a:off x="91846" y="140677"/>
            <a:ext cx="2229324" cy="571500"/>
          </a:xfrm>
          <a:prstGeom prst="homePlat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800" b="1" dirty="0">
                <a:solidFill>
                  <a:schemeClr val="tx1"/>
                </a:solidFill>
              </a:rPr>
              <a:t>txt2phrases</a:t>
            </a:r>
          </a:p>
        </p:txBody>
      </p:sp>
      <p:sp>
        <p:nvSpPr>
          <p:cNvPr id="11" name="Arrow: Chevron 10">
            <a:extLst>
              <a:ext uri="{FF2B5EF4-FFF2-40B4-BE49-F238E27FC236}">
                <a16:creationId xmlns:a16="http://schemas.microsoft.com/office/drawing/2014/main" id="{9AD5FDE6-0F21-33A0-E629-8DA9EAC0D597}"/>
              </a:ext>
            </a:extLst>
          </p:cNvPr>
          <p:cNvSpPr/>
          <p:nvPr/>
        </p:nvSpPr>
        <p:spPr>
          <a:xfrm>
            <a:off x="2243854" y="140677"/>
            <a:ext cx="648929" cy="571500"/>
          </a:xfrm>
          <a:prstGeom prst="chevron">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TextBox 12">
            <a:extLst>
              <a:ext uri="{FF2B5EF4-FFF2-40B4-BE49-F238E27FC236}">
                <a16:creationId xmlns:a16="http://schemas.microsoft.com/office/drawing/2014/main" id="{584F5B96-2DDA-2643-248B-C56C10BE51DF}"/>
              </a:ext>
            </a:extLst>
          </p:cNvPr>
          <p:cNvSpPr txBox="1"/>
          <p:nvPr/>
        </p:nvSpPr>
        <p:spPr>
          <a:xfrm>
            <a:off x="769193" y="1019653"/>
            <a:ext cx="10133449" cy="1015663"/>
          </a:xfrm>
          <a:prstGeom prst="rect">
            <a:avLst/>
          </a:prstGeom>
          <a:noFill/>
        </p:spPr>
        <p:txBody>
          <a:bodyPr wrap="square">
            <a:spAutoFit/>
          </a:bodyPr>
          <a:lstStyle/>
          <a:p>
            <a:r>
              <a:rPr lang="en-US" sz="2000" dirty="0"/>
              <a:t>Extracts meaningful </a:t>
            </a:r>
            <a:r>
              <a:rPr lang="en-US" sz="2000" dirty="0" err="1"/>
              <a:t>keyphrases</a:t>
            </a:r>
            <a:r>
              <a:rPr lang="en-US" sz="2000" dirty="0"/>
              <a:t> and concepts from large collections of text documents (e.g., research papers) and converts them into structured outputs such as CSV and XML for downstream knowledge processing.</a:t>
            </a:r>
            <a:endParaRPr lang="en-IN" sz="2000" dirty="0"/>
          </a:p>
        </p:txBody>
      </p:sp>
      <p:sp>
        <p:nvSpPr>
          <p:cNvPr id="15" name="TextBox 14">
            <a:extLst>
              <a:ext uri="{FF2B5EF4-FFF2-40B4-BE49-F238E27FC236}">
                <a16:creationId xmlns:a16="http://schemas.microsoft.com/office/drawing/2014/main" id="{E80BAB05-E573-2E13-4606-650BE3DFEB83}"/>
              </a:ext>
            </a:extLst>
          </p:cNvPr>
          <p:cNvSpPr txBox="1"/>
          <p:nvPr/>
        </p:nvSpPr>
        <p:spPr>
          <a:xfrm>
            <a:off x="845575" y="2242674"/>
            <a:ext cx="10133449" cy="707886"/>
          </a:xfrm>
          <a:prstGeom prst="rect">
            <a:avLst/>
          </a:prstGeom>
          <a:noFill/>
        </p:spPr>
        <p:txBody>
          <a:bodyPr wrap="square">
            <a:spAutoFit/>
          </a:bodyPr>
          <a:lstStyle/>
          <a:p>
            <a:pPr marL="285750" indent="-285750">
              <a:buFont typeface="Wingdings" panose="05000000000000000000" pitchFamily="2" charset="2"/>
              <a:buChar char="§"/>
            </a:pPr>
            <a:r>
              <a:rPr lang="en-US" sz="2000" dirty="0"/>
              <a:t>Identifies unique domain-specific key concepts from literature, enabling automated knowledge extraction and encyclopedia creation.</a:t>
            </a:r>
            <a:endParaRPr lang="en-IN" sz="2000" dirty="0"/>
          </a:p>
        </p:txBody>
      </p:sp>
    </p:spTree>
    <p:extLst>
      <p:ext uri="{BB962C8B-B14F-4D97-AF65-F5344CB8AC3E}">
        <p14:creationId xmlns:p14="http://schemas.microsoft.com/office/powerpoint/2010/main" val="2834535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extLst>
              <a:ext uri="{FF2B5EF4-FFF2-40B4-BE49-F238E27FC236}">
                <a16:creationId xmlns:a16="http://schemas.microsoft.com/office/drawing/2014/main" id="{A6C078A3-02BC-C100-11AB-483A682D8E10}"/>
              </a:ext>
            </a:extLst>
          </p:cNvPr>
          <p:cNvPicPr>
            <a:picLocks noChangeAspect="1"/>
          </p:cNvPicPr>
          <p:nvPr/>
        </p:nvPicPr>
        <p:blipFill>
          <a:blip r:embed="rId3"/>
          <a:stretch>
            <a:fillRect/>
          </a:stretch>
        </p:blipFill>
        <p:spPr>
          <a:xfrm>
            <a:off x="437374" y="1086153"/>
            <a:ext cx="10796683" cy="5771847"/>
          </a:xfrm>
          <a:prstGeom prst="rect">
            <a:avLst/>
          </a:prstGeom>
        </p:spPr>
      </p:pic>
      <p:sp>
        <p:nvSpPr>
          <p:cNvPr id="6" name="Arrow: Pentagon 5">
            <a:extLst>
              <a:ext uri="{FF2B5EF4-FFF2-40B4-BE49-F238E27FC236}">
                <a16:creationId xmlns:a16="http://schemas.microsoft.com/office/drawing/2014/main" id="{3F467D19-DC35-8CAF-CC4A-E974A87A6A8B}"/>
              </a:ext>
            </a:extLst>
          </p:cNvPr>
          <p:cNvSpPr/>
          <p:nvPr/>
        </p:nvSpPr>
        <p:spPr>
          <a:xfrm>
            <a:off x="140677" y="89178"/>
            <a:ext cx="2713703" cy="571500"/>
          </a:xfrm>
          <a:prstGeom prst="homePlat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b="1" dirty="0" err="1">
                <a:solidFill>
                  <a:schemeClr val="tx1"/>
                </a:solidFill>
              </a:rPr>
              <a:t>Encyclopedia</a:t>
            </a:r>
            <a:endParaRPr lang="en-IN" sz="3200" b="1" dirty="0">
              <a:solidFill>
                <a:schemeClr val="tx1"/>
              </a:solidFill>
            </a:endParaRPr>
          </a:p>
        </p:txBody>
      </p:sp>
      <p:sp>
        <p:nvSpPr>
          <p:cNvPr id="7" name="Arrow: Chevron 6">
            <a:extLst>
              <a:ext uri="{FF2B5EF4-FFF2-40B4-BE49-F238E27FC236}">
                <a16:creationId xmlns:a16="http://schemas.microsoft.com/office/drawing/2014/main" id="{CC1EE07E-DC35-218D-AAD9-42D991882CCD}"/>
              </a:ext>
            </a:extLst>
          </p:cNvPr>
          <p:cNvSpPr/>
          <p:nvPr/>
        </p:nvSpPr>
        <p:spPr>
          <a:xfrm>
            <a:off x="2713703" y="89178"/>
            <a:ext cx="648929" cy="571500"/>
          </a:xfrm>
          <a:prstGeom prst="chevron">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1684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extLst>
              <a:ext uri="{FF2B5EF4-FFF2-40B4-BE49-F238E27FC236}">
                <a16:creationId xmlns:a16="http://schemas.microsoft.com/office/drawing/2014/main" id="{AF1A15F6-D260-4631-1A78-5F4A8AF26231}"/>
              </a:ext>
            </a:extLst>
          </p:cNvPr>
          <p:cNvPicPr>
            <a:picLocks noChangeAspect="1"/>
          </p:cNvPicPr>
          <p:nvPr/>
        </p:nvPicPr>
        <p:blipFill>
          <a:blip r:embed="rId3"/>
          <a:stretch>
            <a:fillRect/>
          </a:stretch>
        </p:blipFill>
        <p:spPr>
          <a:xfrm>
            <a:off x="0" y="1002246"/>
            <a:ext cx="12192000" cy="5664835"/>
          </a:xfrm>
          <a:prstGeom prst="rect">
            <a:avLst/>
          </a:prstGeom>
        </p:spPr>
      </p:pic>
      <p:sp>
        <p:nvSpPr>
          <p:cNvPr id="2" name="Arrow: Pentagon 1">
            <a:extLst>
              <a:ext uri="{FF2B5EF4-FFF2-40B4-BE49-F238E27FC236}">
                <a16:creationId xmlns:a16="http://schemas.microsoft.com/office/drawing/2014/main" id="{9446943A-4F46-89D3-E012-524FE1479299}"/>
              </a:ext>
            </a:extLst>
          </p:cNvPr>
          <p:cNvSpPr/>
          <p:nvPr/>
        </p:nvSpPr>
        <p:spPr>
          <a:xfrm>
            <a:off x="80387" y="129373"/>
            <a:ext cx="3014505" cy="571500"/>
          </a:xfrm>
          <a:prstGeom prst="homePlat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800" b="1" dirty="0">
                <a:solidFill>
                  <a:schemeClr val="tx1"/>
                </a:solidFill>
              </a:rPr>
              <a:t>Knowledge graph</a:t>
            </a:r>
          </a:p>
        </p:txBody>
      </p:sp>
      <p:sp>
        <p:nvSpPr>
          <p:cNvPr id="3" name="Arrow: Chevron 2">
            <a:extLst>
              <a:ext uri="{FF2B5EF4-FFF2-40B4-BE49-F238E27FC236}">
                <a16:creationId xmlns:a16="http://schemas.microsoft.com/office/drawing/2014/main" id="{371AA351-92A8-C9AA-D5A0-1079BD3D10BC}"/>
              </a:ext>
            </a:extLst>
          </p:cNvPr>
          <p:cNvSpPr/>
          <p:nvPr/>
        </p:nvSpPr>
        <p:spPr>
          <a:xfrm>
            <a:off x="2950216" y="129373"/>
            <a:ext cx="648929" cy="571500"/>
          </a:xfrm>
          <a:prstGeom prst="chevron">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1914358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CD2E88-5893-531E-63B4-617C938425BD}"/>
              </a:ext>
            </a:extLst>
          </p:cNvPr>
          <p:cNvSpPr txBox="1"/>
          <p:nvPr/>
        </p:nvSpPr>
        <p:spPr>
          <a:xfrm>
            <a:off x="4397828" y="2788580"/>
            <a:ext cx="3657600" cy="1015663"/>
          </a:xfrm>
          <a:prstGeom prst="rect">
            <a:avLst/>
          </a:prstGeom>
          <a:noFill/>
        </p:spPr>
        <p:txBody>
          <a:bodyPr wrap="square" rtlCol="0">
            <a:spAutoFit/>
          </a:bodyPr>
          <a:lstStyle/>
          <a:p>
            <a:r>
              <a:rPr lang="en-IN" sz="6000" dirty="0"/>
              <a:t>Thank you </a:t>
            </a:r>
          </a:p>
        </p:txBody>
      </p:sp>
      <p:pic>
        <p:nvPicPr>
          <p:cNvPr id="3" name="Picture 2" descr="#OAWeek2022: Gemeinsam den Weltklimabericht befreien ...">
            <a:extLst>
              <a:ext uri="{FF2B5EF4-FFF2-40B4-BE49-F238E27FC236}">
                <a16:creationId xmlns:a16="http://schemas.microsoft.com/office/drawing/2014/main" id="{0F4D8568-BC69-358E-5BE7-12260D2FF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3688" y="251214"/>
            <a:ext cx="4124325" cy="857250"/>
          </a:xfrm>
          <a:prstGeom prst="rect">
            <a:avLst/>
          </a:prstGeom>
          <a:noFill/>
          <a:extLst>
            <a:ext uri="{909E8E84-426E-40DD-AFC4-6F175D3DCCD1}">
              <a14:hiddenFill xmlns:a14="http://schemas.microsoft.com/office/drawing/2010/main">
                <a:solidFill>
                  <a:srgbClr val="FFFFFF"/>
                </a:solidFill>
              </a14:hiddenFill>
            </a:ext>
          </a:extLst>
        </p:spPr>
      </p:pic>
      <p:sp>
        <p:nvSpPr>
          <p:cNvPr id="4" name="Minus Sign 3">
            <a:extLst>
              <a:ext uri="{FF2B5EF4-FFF2-40B4-BE49-F238E27FC236}">
                <a16:creationId xmlns:a16="http://schemas.microsoft.com/office/drawing/2014/main" id="{6DE14C17-FFA1-E5D7-AFD4-C7D6964DFB5F}"/>
              </a:ext>
            </a:extLst>
          </p:cNvPr>
          <p:cNvSpPr/>
          <p:nvPr/>
        </p:nvSpPr>
        <p:spPr>
          <a:xfrm>
            <a:off x="-1969476" y="6320413"/>
            <a:ext cx="16108264" cy="195122"/>
          </a:xfrm>
          <a:prstGeom prst="mathMinu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362895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259</Words>
  <Application>Microsoft Office PowerPoint</Application>
  <PresentationFormat>Widescreen</PresentationFormat>
  <Paragraphs>15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PUSHPA VALLI</dc:creator>
  <cp:lastModifiedBy>PUSHPA VALLI</cp:lastModifiedBy>
  <cp:revision>6</cp:revision>
  <dcterms:created xsi:type="dcterms:W3CDTF">2026-02-23T08:06:46Z</dcterms:created>
  <dcterms:modified xsi:type="dcterms:W3CDTF">2026-02-25T06:34:50Z</dcterms:modified>
</cp:coreProperties>
</file>